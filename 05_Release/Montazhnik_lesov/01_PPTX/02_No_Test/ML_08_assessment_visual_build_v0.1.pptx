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44" y="-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61D2-7C6A-4A5E-AC57-74F3502DB663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4C25-6426-4B40-8064-86D59BE50A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6195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61D2-7C6A-4A5E-AC57-74F3502DB663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4C25-6426-4B40-8064-86D59BE50A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410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61D2-7C6A-4A5E-AC57-74F3502DB663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4C25-6426-4B40-8064-86D59BE50A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7705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12800" y="1600201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229600" y="1600201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61D2-7C6A-4A5E-AC57-74F3502DB663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4C25-6426-4B40-8064-86D59BE50A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419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61D2-7C6A-4A5E-AC57-74F3502DB663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4C25-6426-4B40-8064-86D59BE50A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2793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61D2-7C6A-4A5E-AC57-74F3502DB663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4C25-6426-4B40-8064-86D59BE50A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624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61D2-7C6A-4A5E-AC57-74F3502DB663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4C25-6426-4B40-8064-86D59BE50A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102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61D2-7C6A-4A5E-AC57-74F3502DB663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4C25-6426-4B40-8064-86D59BE50A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794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61D2-7C6A-4A5E-AC57-74F3502DB663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4C25-6426-4B40-8064-86D59BE50A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330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61D2-7C6A-4A5E-AC57-74F3502DB663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4C25-6426-4B40-8064-86D59BE50A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1163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1785600" y="274639"/>
            <a:ext cx="36576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12800" y="274639"/>
            <a:ext cx="107696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861D2-7C6A-4A5E-AC57-74F3502DB663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4C25-6426-4B40-8064-86D59BE50A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1080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861D2-7C6A-4A5E-AC57-74F3502DB663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D4C25-6426-4B40-8064-86D59BE50A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664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29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9600" y="431800"/>
            <a:ext cx="1168400" cy="330200"/>
          </a:xfrm>
          <a:prstGeom prst="roundRect">
            <a:avLst>
              <a:gd name="adj" fmla="val 20000"/>
            </a:avLst>
          </a:prstGeom>
          <a:solidFill>
            <a:srgbClr val="2F5D7C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2F5D7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Segoe UI"/>
              </a:rPr>
              <a:t>A-44 / TV-01</a:t>
            </a:r>
            <a:endParaRPr lang="ru-RU" sz="105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55800" y="381000"/>
            <a:ext cx="825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b="1" smtClean="0">
                <a:solidFill>
                  <a:srgbClr val="5E6C78"/>
                </a:solidFill>
                <a:latin typeface="Segoe UI"/>
              </a:rPr>
              <a:t>Assessment recognition board</a:t>
            </a:r>
            <a:endParaRPr lang="ru-RU" sz="1150" b="1">
              <a:solidFill>
                <a:srgbClr val="5E6C78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863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500" b="1" smtClean="0">
                <a:solidFill>
                  <a:srgbClr val="17324D"/>
                </a:solidFill>
                <a:latin typeface="Segoe UI"/>
              </a:rPr>
              <a:t>Rabochaya ploshchadka dolzhna schityvatsya kak otdelnaya rol gruppy elementov</a:t>
            </a:r>
            <a:endParaRPr lang="ru-RU" sz="25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smtClean="0">
                <a:solidFill>
                  <a:srgbClr val="445465"/>
                </a:solidFill>
                <a:latin typeface="Segoe UI"/>
              </a:rPr>
              <a:t>Etot board nuzhen dlya bystrogo raspoznavaniya: chto dayot rabochuyu ploshchadku, chto derzhit zhestkost, a chto fiksiruet skhemu.</a:t>
            </a:r>
            <a:endParaRPr lang="ru-RU" sz="130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09600" y="1930400"/>
            <a:ext cx="4445000" cy="304800"/>
          </a:xfrm>
          <a:prstGeom prst="roundRect">
            <a:avLst>
              <a:gd name="adj" fmla="val 18000"/>
            </a:avLst>
          </a:prstGeom>
          <a:solidFill>
            <a:srgbClr val="C65D18"/>
          </a:solidFill>
          <a:ln w="15875" cap="flat" cmpd="sng" algn="ctr">
            <a:solidFill>
              <a:srgbClr val="C65D1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609600" y="19558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Test prompt: ukazhite gruppu, kotoraya formiruet rabochuyu ploshchadku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2700">
            <a:solidFill>
              <a:srgbClr val="C7D0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600" y="64262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50" smtClean="0">
                <a:solidFill>
                  <a:srgbClr val="6A7782"/>
                </a:solidFill>
                <a:latin typeface="Segoe UI"/>
              </a:rPr>
              <a:t>Montazhnik lesov | Assessment visual build draft</a:t>
            </a:r>
            <a:endParaRPr lang="ru-RU" sz="950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9982200" y="6400800"/>
            <a:ext cx="1600200" cy="254000"/>
          </a:xfrm>
          <a:prstGeom prst="roundRect">
            <a:avLst>
              <a:gd name="adj" fmla="val 16000"/>
            </a:avLst>
          </a:prstGeom>
          <a:solidFill>
            <a:srgbClr val="F4F1EA"/>
          </a:solidFill>
          <a:ln w="12700" cap="flat" cmpd="sng" algn="ctr">
            <a:solidFill>
              <a:srgbClr val="B7C3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9982200" y="6426200"/>
            <a:ext cx="160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smtClean="0">
                <a:solidFill>
                  <a:srgbClr val="77838E"/>
                </a:solidFill>
                <a:latin typeface="Segoe UI"/>
              </a:rPr>
              <a:t>TV anchor / QA slot</a:t>
            </a:r>
            <a:endParaRPr lang="ru-RU" sz="850">
              <a:solidFill>
                <a:srgbClr val="77838E"/>
              </a:solidFill>
              <a:latin typeface="Segoe UI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762000" y="2489200"/>
            <a:ext cx="5689600" cy="309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965200" y="2641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17324D"/>
                </a:solidFill>
                <a:latin typeface="Segoe UI"/>
              </a:rPr>
              <a:t>Recognition scheme</a:t>
            </a:r>
            <a:endParaRPr lang="ru-RU" sz="1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3022600" y="2997200"/>
            <a:ext cx="1168400" cy="1905000"/>
          </a:xfrm>
          <a:prstGeom prst="rect">
            <a:avLst/>
          </a:prstGeom>
          <a:solidFill>
            <a:srgbClr val="E6EEF4"/>
          </a:solidFill>
          <a:ln w="25400" cap="flat" cmpd="sng" algn="ctr">
            <a:solidFill>
              <a:srgbClr val="8FA3B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2235200" y="3632200"/>
            <a:ext cx="2743200" cy="279400"/>
          </a:xfrm>
          <a:prstGeom prst="rect">
            <a:avLst/>
          </a:prstGeom>
          <a:solidFill>
            <a:srgbClr val="E8F3EC"/>
          </a:solidFill>
          <a:ln w="25400" cap="flat" cmpd="sng" algn="ctr">
            <a:solidFill>
              <a:srgbClr val="2E7D5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 flipH="1">
            <a:off x="2235200" y="3073400"/>
            <a:ext cx="787400" cy="1117600"/>
          </a:xfrm>
          <a:prstGeom prst="line">
            <a:avLst/>
          </a:prstGeom>
          <a:ln w="38100">
            <a:solidFill>
              <a:srgbClr val="D58B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4191000" y="3073400"/>
            <a:ext cx="787400" cy="1117600"/>
          </a:xfrm>
          <a:prstGeom prst="line">
            <a:avLst/>
          </a:prstGeom>
          <a:ln w="38100">
            <a:solidFill>
              <a:srgbClr val="D58B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Овал 19"/>
          <p:cNvSpPr/>
          <p:nvPr/>
        </p:nvSpPr>
        <p:spPr>
          <a:xfrm>
            <a:off x="2819400" y="4927600"/>
            <a:ext cx="203200" cy="203200"/>
          </a:xfrm>
          <a:prstGeom prst="ellipse">
            <a:avLst/>
          </a:prstGeom>
          <a:solidFill>
            <a:srgbClr val="8E4A7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4191000" y="4927600"/>
            <a:ext cx="203200" cy="203200"/>
          </a:xfrm>
          <a:prstGeom prst="ellipse">
            <a:avLst/>
          </a:prstGeom>
          <a:solidFill>
            <a:srgbClr val="8E4A7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 flipH="1">
            <a:off x="4648200" y="3022600"/>
            <a:ext cx="2082800" cy="762000"/>
          </a:xfrm>
          <a:prstGeom prst="line">
            <a:avLst/>
          </a:prstGeom>
          <a:ln w="22860">
            <a:solidFill>
              <a:srgbClr val="2E7D5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Скругленный прямоугольник 22"/>
          <p:cNvSpPr/>
          <p:nvPr/>
        </p:nvSpPr>
        <p:spPr>
          <a:xfrm>
            <a:off x="6807200" y="2667000"/>
            <a:ext cx="43180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 cap="flat" cmpd="sng" algn="ctr">
            <a:solidFill>
              <a:srgbClr val="C7D0D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/>
          <p:cNvSpPr/>
          <p:nvPr/>
        </p:nvSpPr>
        <p:spPr>
          <a:xfrm>
            <a:off x="6959600" y="2832100"/>
            <a:ext cx="127000" cy="1270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/>
          <p:cNvSpPr txBox="1"/>
          <p:nvPr/>
        </p:nvSpPr>
        <p:spPr>
          <a:xfrm>
            <a:off x="7162800" y="2768600"/>
            <a:ext cx="3835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50" b="1" smtClean="0">
                <a:solidFill>
                  <a:srgbClr val="17324D"/>
                </a:solidFill>
                <a:latin typeface="Segoe UI"/>
              </a:rPr>
              <a:t>Badge 1: nastily / rabochaya ploshchadka</a:t>
            </a:r>
            <a:endParaRPr lang="ru-RU" sz="125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62800" y="3048000"/>
            <a:ext cx="3835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80" smtClean="0">
                <a:solidFill>
                  <a:srgbClr val="4A5968"/>
                </a:solidFill>
                <a:latin typeface="Segoe UI"/>
              </a:rPr>
              <a:t>Imenno eta gruppa dolzhna byt pravilnym fokusom otveta na Q-07.</a:t>
            </a:r>
            <a:endParaRPr lang="ru-RU" sz="1080">
              <a:solidFill>
                <a:srgbClr val="4A5968"/>
              </a:solidFill>
              <a:latin typeface="Segoe UI"/>
            </a:endParaRPr>
          </a:p>
        </p:txBody>
      </p:sp>
      <p:cxnSp>
        <p:nvCxnSpPr>
          <p:cNvPr id="27" name="Прямая соединительная линия 26"/>
          <p:cNvCxnSpPr/>
          <p:nvPr/>
        </p:nvCxnSpPr>
        <p:spPr>
          <a:xfrm flipH="1" flipV="1">
            <a:off x="3733800" y="3378200"/>
            <a:ext cx="2997200" cy="558800"/>
          </a:xfrm>
          <a:prstGeom prst="line">
            <a:avLst/>
          </a:prstGeom>
          <a:ln w="22860">
            <a:solidFill>
              <a:srgbClr val="D58B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Скругленный прямоугольник 27"/>
          <p:cNvSpPr/>
          <p:nvPr/>
        </p:nvSpPr>
        <p:spPr>
          <a:xfrm>
            <a:off x="6807200" y="3632200"/>
            <a:ext cx="43180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 cap="flat" cmpd="sng" algn="ctr">
            <a:solidFill>
              <a:srgbClr val="C7D0D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/>
          <p:cNvSpPr/>
          <p:nvPr/>
        </p:nvSpPr>
        <p:spPr>
          <a:xfrm>
            <a:off x="6959600" y="3797300"/>
            <a:ext cx="127000" cy="127000"/>
          </a:xfrm>
          <a:prstGeom prst="ellipse">
            <a:avLst/>
          </a:prstGeom>
          <a:solidFill>
            <a:srgbClr val="D58B2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/>
          <p:cNvSpPr txBox="1"/>
          <p:nvPr/>
        </p:nvSpPr>
        <p:spPr>
          <a:xfrm>
            <a:off x="7162800" y="3733800"/>
            <a:ext cx="3835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50" b="1" smtClean="0">
                <a:solidFill>
                  <a:srgbClr val="17324D"/>
                </a:solidFill>
                <a:latin typeface="Segoe UI"/>
              </a:rPr>
              <a:t>Badge 2: svyazi / zhestkost</a:t>
            </a:r>
            <a:endParaRPr lang="ru-RU" sz="125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62800" y="4013200"/>
            <a:ext cx="3835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80" smtClean="0">
                <a:solidFill>
                  <a:srgbClr val="4A5968"/>
                </a:solidFill>
                <a:latin typeface="Segoe UI"/>
              </a:rPr>
              <a:t>Eta gruppa derzhit geometriyu, no ne yavlyaetsya rabochey ploshchadkoy.</a:t>
            </a:r>
            <a:endParaRPr lang="ru-RU" sz="1080">
              <a:solidFill>
                <a:srgbClr val="4A5968"/>
              </a:solidFill>
              <a:latin typeface="Segoe UI"/>
            </a:endParaRPr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 flipH="1">
            <a:off x="4292600" y="4851400"/>
            <a:ext cx="2438400" cy="177800"/>
          </a:xfrm>
          <a:prstGeom prst="line">
            <a:avLst/>
          </a:prstGeom>
          <a:ln w="22860">
            <a:solidFill>
              <a:srgbClr val="8E4A7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Скругленный прямоугольник 32"/>
          <p:cNvSpPr/>
          <p:nvPr/>
        </p:nvSpPr>
        <p:spPr>
          <a:xfrm>
            <a:off x="6807200" y="4597400"/>
            <a:ext cx="4318000" cy="78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 cap="flat" cmpd="sng" algn="ctr">
            <a:solidFill>
              <a:srgbClr val="C7D0D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/>
          <p:cNvSpPr/>
          <p:nvPr/>
        </p:nvSpPr>
        <p:spPr>
          <a:xfrm>
            <a:off x="6959600" y="4762500"/>
            <a:ext cx="127000" cy="127000"/>
          </a:xfrm>
          <a:prstGeom prst="ellipse">
            <a:avLst/>
          </a:prstGeom>
          <a:solidFill>
            <a:srgbClr val="8E4A7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/>
          <p:cNvSpPr txBox="1"/>
          <p:nvPr/>
        </p:nvSpPr>
        <p:spPr>
          <a:xfrm>
            <a:off x="7162800" y="4699000"/>
            <a:ext cx="3835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50" b="1" smtClean="0">
                <a:solidFill>
                  <a:srgbClr val="17324D"/>
                </a:solidFill>
                <a:latin typeface="Segoe UI"/>
              </a:rPr>
              <a:t>Badge 3: kreplenie / fiksatsiya</a:t>
            </a:r>
            <a:endParaRPr lang="ru-RU" sz="125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162800" y="4978400"/>
            <a:ext cx="3835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80" smtClean="0">
                <a:solidFill>
                  <a:srgbClr val="4A5968"/>
                </a:solidFill>
                <a:latin typeface="Segoe UI"/>
              </a:rPr>
              <a:t>Kreplenie uderzhivaet skhemu i ne dolzhno podmenyat soboy roli drugih grupp.</a:t>
            </a:r>
            <a:endParaRPr lang="ru-RU" sz="1080">
              <a:solidFill>
                <a:srgbClr val="4A5968"/>
              </a:solidFill>
              <a:latin typeface="Segoe UI"/>
            </a:endParaRPr>
          </a:p>
        </p:txBody>
      </p:sp>
      <p:sp>
        <p:nvSpPr>
          <p:cNvPr id="37" name="Скругленный прямоугольник 36"/>
          <p:cNvSpPr/>
          <p:nvPr/>
        </p:nvSpPr>
        <p:spPr>
          <a:xfrm>
            <a:off x="939800" y="5207000"/>
            <a:ext cx="2489200" cy="279400"/>
          </a:xfrm>
          <a:prstGeom prst="roundRect">
            <a:avLst>
              <a:gd name="adj" fmla="val 18000"/>
            </a:avLst>
          </a:prstGeom>
          <a:solidFill>
            <a:srgbClr val="6C7A89"/>
          </a:solidFill>
          <a:ln w="15875" cap="flat" cmpd="sng" algn="ctr">
            <a:solidFill>
              <a:srgbClr val="6C7A8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/>
          <p:cNvSpPr txBox="1"/>
          <p:nvPr/>
        </p:nvSpPr>
        <p:spPr>
          <a:xfrm>
            <a:off x="939800" y="5232400"/>
            <a:ext cx="248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Optional distractor: ne eto ishchem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297729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29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9600" y="431800"/>
            <a:ext cx="1168400" cy="330200"/>
          </a:xfrm>
          <a:prstGeom prst="roundRect">
            <a:avLst>
              <a:gd name="adj" fmla="val 20000"/>
            </a:avLst>
          </a:prstGeom>
          <a:solidFill>
            <a:srgbClr val="2F5D7C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2F5D7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Segoe UI"/>
              </a:rPr>
              <a:t>A-45 / TV-02</a:t>
            </a:r>
            <a:endParaRPr lang="ru-RU" sz="105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55800" y="381000"/>
            <a:ext cx="825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b="1" smtClean="0">
                <a:solidFill>
                  <a:srgbClr val="5E6C78"/>
                </a:solidFill>
                <a:latin typeface="Segoe UI"/>
              </a:rPr>
              <a:t>Assessment intake compare-card</a:t>
            </a:r>
            <a:endParaRPr lang="ru-RU" sz="1150" b="1">
              <a:solidFill>
                <a:srgbClr val="5E6C78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863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500" b="1" smtClean="0">
                <a:solidFill>
                  <a:srgbClr val="17324D"/>
                </a:solidFill>
                <a:latin typeface="Segoe UI"/>
              </a:rPr>
              <a:t>Do sborki nuzhen prostoy filtr: godno ili srazu vyvodim iz raboty</a:t>
            </a:r>
            <a:endParaRPr lang="ru-RU" sz="25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smtClean="0">
                <a:solidFill>
                  <a:srgbClr val="445465"/>
                </a:solidFill>
                <a:latin typeface="Segoe UI"/>
              </a:rPr>
              <a:t>Visual nuzhen ne dlya 'pochti godno', a dlya mgnovennogo resheniya po priemke elementa.</a:t>
            </a:r>
            <a:endParaRPr lang="ru-RU" sz="130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09600" y="1930400"/>
            <a:ext cx="4445000" cy="304800"/>
          </a:xfrm>
          <a:prstGeom prst="roundRect">
            <a:avLst>
              <a:gd name="adj" fmla="val 18000"/>
            </a:avLst>
          </a:prstGeom>
          <a:solidFill>
            <a:srgbClr val="C65D18"/>
          </a:solidFill>
          <a:ln w="15875" cap="flat" cmpd="sng" algn="ctr">
            <a:solidFill>
              <a:srgbClr val="C65D1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609600" y="19558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Test prompt: kakoy element nado srazu vyvesti iz sborki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2700">
            <a:solidFill>
              <a:srgbClr val="C7D0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600" y="64262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50" smtClean="0">
                <a:solidFill>
                  <a:srgbClr val="6A7782"/>
                </a:solidFill>
                <a:latin typeface="Segoe UI"/>
              </a:rPr>
              <a:t>Montazhnik lesov | Assessment visual build draft</a:t>
            </a:r>
            <a:endParaRPr lang="ru-RU" sz="950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9982200" y="6400800"/>
            <a:ext cx="1600200" cy="254000"/>
          </a:xfrm>
          <a:prstGeom prst="roundRect">
            <a:avLst>
              <a:gd name="adj" fmla="val 16000"/>
            </a:avLst>
          </a:prstGeom>
          <a:solidFill>
            <a:srgbClr val="F4F1EA"/>
          </a:solidFill>
          <a:ln w="12700" cap="flat" cmpd="sng" algn="ctr">
            <a:solidFill>
              <a:srgbClr val="B7C3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9982200" y="6426200"/>
            <a:ext cx="160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smtClean="0">
                <a:solidFill>
                  <a:srgbClr val="77838E"/>
                </a:solidFill>
                <a:latin typeface="Segoe UI"/>
              </a:rPr>
              <a:t>TV anchor / QA slot</a:t>
            </a:r>
            <a:endParaRPr lang="ru-RU" sz="850">
              <a:solidFill>
                <a:srgbClr val="77838E"/>
              </a:solidFill>
              <a:latin typeface="Segoe UI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889000" y="2590800"/>
            <a:ext cx="4572000" cy="289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B8C4C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1092200" y="2768600"/>
            <a:ext cx="1320800" cy="279400"/>
          </a:xfrm>
          <a:prstGeom prst="roundRect">
            <a:avLst>
              <a:gd name="adj" fmla="val 18000"/>
            </a:avLst>
          </a:prstGeom>
          <a:solidFill>
            <a:srgbClr val="2E7D5B"/>
          </a:solidFill>
          <a:ln w="15875" cap="flat" cmpd="sng" algn="ctr">
            <a:solidFill>
              <a:srgbClr val="2E7D5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1092200" y="2794000"/>
            <a:ext cx="1320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GOOD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2200" y="3124200"/>
            <a:ext cx="416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 smtClean="0">
                <a:solidFill>
                  <a:srgbClr val="17324D"/>
                </a:solidFill>
                <a:latin typeface="Segoe UI"/>
              </a:rPr>
              <a:t>Godno v sborku</a:t>
            </a:r>
            <a:endParaRPr lang="ru-RU" sz="15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117600" y="3644900"/>
            <a:ext cx="127000" cy="1270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1320800" y="35814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20" smtClean="0">
                <a:solidFill>
                  <a:srgbClr val="445465"/>
                </a:solidFill>
                <a:latin typeface="Segoe UI"/>
              </a:rPr>
              <a:t>bez deformatsii i slomannykh konturov</a:t>
            </a:r>
            <a:endParaRPr lang="ru-RU" sz="112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1117600" y="4076700"/>
            <a:ext cx="127000" cy="1270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/>
          <p:cNvSpPr txBox="1"/>
          <p:nvPr/>
        </p:nvSpPr>
        <p:spPr>
          <a:xfrm>
            <a:off x="1320800" y="40132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20" smtClean="0">
                <a:solidFill>
                  <a:srgbClr val="445465"/>
                </a:solidFill>
                <a:latin typeface="Segoe UI"/>
              </a:rPr>
              <a:t>komplektnyy uzel bez yavnykh propuskov</a:t>
            </a:r>
            <a:endParaRPr lang="ru-RU" sz="112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1117600" y="4508500"/>
            <a:ext cx="127000" cy="1270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/>
        </p:nvSpPr>
        <p:spPr>
          <a:xfrm>
            <a:off x="1320800" y="44450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it-IT" sz="1120" smtClean="0">
                <a:solidFill>
                  <a:srgbClr val="445465"/>
                </a:solidFill>
                <a:latin typeface="Segoe UI"/>
              </a:rPr>
              <a:t>rabochiy vid, a ne 'idealnaya vitrinna'</a:t>
            </a:r>
            <a:endParaRPr lang="ru-RU" sz="112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2200" y="5003800"/>
            <a:ext cx="416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40" b="1" smtClean="0">
                <a:solidFill>
                  <a:srgbClr val="6A7782"/>
                </a:solidFill>
                <a:latin typeface="Segoe UI"/>
              </a:rPr>
              <a:t>Neutralnyy rabochiy etalon</a:t>
            </a:r>
            <a:endParaRPr lang="ru-RU" sz="1040" b="1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25" name="Скругленный прямоугольник 24"/>
          <p:cNvSpPr/>
          <p:nvPr/>
        </p:nvSpPr>
        <p:spPr>
          <a:xfrm>
            <a:off x="6731000" y="2590800"/>
            <a:ext cx="4572000" cy="289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B8C4C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Скругленный прямоугольник 25"/>
          <p:cNvSpPr/>
          <p:nvPr/>
        </p:nvSpPr>
        <p:spPr>
          <a:xfrm>
            <a:off x="6934200" y="2768600"/>
            <a:ext cx="1320800" cy="279400"/>
          </a:xfrm>
          <a:prstGeom prst="roundRect">
            <a:avLst>
              <a:gd name="adj" fmla="val 18000"/>
            </a:avLst>
          </a:prstGeom>
          <a:solidFill>
            <a:srgbClr val="A63D40"/>
          </a:solidFill>
          <a:ln w="15875" cap="flat" cmpd="sng" algn="ctr">
            <a:solidFill>
              <a:srgbClr val="A63D4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6934200" y="2794000"/>
            <a:ext cx="1320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NO-GO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34200" y="3124200"/>
            <a:ext cx="416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 smtClean="0">
                <a:solidFill>
                  <a:srgbClr val="17324D"/>
                </a:solidFill>
                <a:latin typeface="Segoe UI"/>
              </a:rPr>
              <a:t>Ne godno v sborku</a:t>
            </a:r>
            <a:endParaRPr lang="ru-RU" sz="15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6959600" y="3644900"/>
            <a:ext cx="127000" cy="1270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/>
          <p:cNvSpPr txBox="1"/>
          <p:nvPr/>
        </p:nvSpPr>
        <p:spPr>
          <a:xfrm>
            <a:off x="7162800" y="35814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20" smtClean="0">
                <a:solidFill>
                  <a:srgbClr val="445465"/>
                </a:solidFill>
                <a:latin typeface="Segoe UI"/>
              </a:rPr>
              <a:t>deformatsiya ili yavnoe iskrivlenie</a:t>
            </a:r>
            <a:endParaRPr lang="ru-RU" sz="112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31" name="Овал 30"/>
          <p:cNvSpPr/>
          <p:nvPr/>
        </p:nvSpPr>
        <p:spPr>
          <a:xfrm>
            <a:off x="6959600" y="4076700"/>
            <a:ext cx="127000" cy="1270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7162800" y="40132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20" smtClean="0">
                <a:solidFill>
                  <a:srgbClr val="445465"/>
                </a:solidFill>
                <a:latin typeface="Segoe UI"/>
              </a:rPr>
              <a:t>nekomplektnyy ili povrezhdennyy uzel</a:t>
            </a:r>
            <a:endParaRPr lang="ru-RU" sz="112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33" name="Овал 32"/>
          <p:cNvSpPr/>
          <p:nvPr/>
        </p:nvSpPr>
        <p:spPr>
          <a:xfrm>
            <a:off x="6959600" y="4508500"/>
            <a:ext cx="127000" cy="1270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/>
          <p:cNvSpPr txBox="1"/>
          <p:nvPr/>
        </p:nvSpPr>
        <p:spPr>
          <a:xfrm>
            <a:off x="7162800" y="4445000"/>
            <a:ext cx="396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20" smtClean="0">
                <a:solidFill>
                  <a:srgbClr val="445465"/>
                </a:solidFill>
                <a:latin typeface="Segoe UI"/>
              </a:rPr>
              <a:t>element srazu vyvoditsya iz sborki</a:t>
            </a:r>
            <a:endParaRPr lang="ru-RU" sz="112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934200" y="5003800"/>
            <a:ext cx="416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l-PL" sz="1040" b="1" smtClean="0">
                <a:solidFill>
                  <a:srgbClr val="6A7782"/>
                </a:solidFill>
                <a:latin typeface="Segoe UI"/>
              </a:rPr>
              <a:t>Ne 'pochti godno', a srazu v brak / otbor</a:t>
            </a:r>
            <a:endParaRPr lang="ru-RU" sz="1040" b="1">
              <a:solidFill>
                <a:srgbClr val="6A7782"/>
              </a:solidFill>
              <a:latin typeface="Segoe UI"/>
            </a:endParaRPr>
          </a:p>
        </p:txBody>
      </p:sp>
      <p:cxnSp>
        <p:nvCxnSpPr>
          <p:cNvPr id="36" name="Прямая соединительная линия 35"/>
          <p:cNvCxnSpPr/>
          <p:nvPr/>
        </p:nvCxnSpPr>
        <p:spPr>
          <a:xfrm>
            <a:off x="5715000" y="4013200"/>
            <a:ext cx="762000" cy="0"/>
          </a:xfrm>
          <a:prstGeom prst="line">
            <a:avLst/>
          </a:prstGeom>
          <a:ln w="38100">
            <a:solidFill>
              <a:srgbClr val="7E8E9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Скругленный прямоугольник 36"/>
          <p:cNvSpPr/>
          <p:nvPr/>
        </p:nvSpPr>
        <p:spPr>
          <a:xfrm>
            <a:off x="5054600" y="3657600"/>
            <a:ext cx="1473200" cy="304800"/>
          </a:xfrm>
          <a:prstGeom prst="roundRect">
            <a:avLst>
              <a:gd name="adj" fmla="val 18000"/>
            </a:avLst>
          </a:prstGeom>
          <a:solidFill>
            <a:srgbClr val="C65D18"/>
          </a:solidFill>
          <a:ln w="15875" cap="flat" cmpd="sng" algn="ctr">
            <a:solidFill>
              <a:srgbClr val="C65D1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/>
          <p:cNvSpPr txBox="1"/>
          <p:nvPr/>
        </p:nvSpPr>
        <p:spPr>
          <a:xfrm>
            <a:off x="5054600" y="3683000"/>
            <a:ext cx="147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otbor do starta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9" name="Скругленный прямоугольник 38"/>
          <p:cNvSpPr/>
          <p:nvPr/>
        </p:nvSpPr>
        <p:spPr>
          <a:xfrm>
            <a:off x="3429000" y="5638800"/>
            <a:ext cx="53086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 cap="flat" cmpd="sng" algn="ctr">
            <a:solidFill>
              <a:srgbClr val="C7D0D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/>
          <p:cNvSpPr/>
          <p:nvPr/>
        </p:nvSpPr>
        <p:spPr>
          <a:xfrm>
            <a:off x="3581400" y="5803900"/>
            <a:ext cx="127000" cy="127000"/>
          </a:xfrm>
          <a:prstGeom prst="ellipse">
            <a:avLst/>
          </a:prstGeom>
          <a:solidFill>
            <a:srgbClr val="C65D1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/>
          <p:cNvSpPr txBox="1"/>
          <p:nvPr/>
        </p:nvSpPr>
        <p:spPr>
          <a:xfrm>
            <a:off x="3784600" y="57404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50" b="1" smtClean="0">
                <a:solidFill>
                  <a:srgbClr val="17324D"/>
                </a:solidFill>
                <a:latin typeface="Segoe UI"/>
              </a:rPr>
              <a:t>Q-08 support</a:t>
            </a:r>
            <a:endParaRPr lang="ru-RU" sz="125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784600" y="60198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80" smtClean="0">
                <a:solidFill>
                  <a:srgbClr val="4A5968"/>
                </a:solidFill>
                <a:latin typeface="Segoe UI"/>
              </a:rPr>
              <a:t>Pravilnyy vybor dolzhen byt svyazan s defektom ili nekomplektnostyu, a ne s vizualnoy 'staryu' detaley.</a:t>
            </a:r>
            <a:endParaRPr lang="ru-RU" sz="1080">
              <a:solidFill>
                <a:srgbClr val="4A5968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38908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29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9600" y="431800"/>
            <a:ext cx="1168400" cy="330200"/>
          </a:xfrm>
          <a:prstGeom prst="roundRect">
            <a:avLst>
              <a:gd name="adj" fmla="val 20000"/>
            </a:avLst>
          </a:prstGeom>
          <a:solidFill>
            <a:srgbClr val="2F5D7C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2F5D7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Segoe UI"/>
              </a:rPr>
              <a:t>A-46 / TV-03</a:t>
            </a:r>
            <a:endParaRPr lang="ru-RU" sz="105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55800" y="381000"/>
            <a:ext cx="825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b="1" smtClean="0">
                <a:solidFill>
                  <a:srgbClr val="5E6C78"/>
                </a:solidFill>
                <a:latin typeface="Segoe UI"/>
              </a:rPr>
              <a:t>Assessment working tier compare-board</a:t>
            </a:r>
            <a:endParaRPr lang="ru-RU" sz="1150" b="1">
              <a:solidFill>
                <a:srgbClr val="5E6C78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863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500" b="1" smtClean="0">
                <a:solidFill>
                  <a:srgbClr val="17324D"/>
                </a:solidFill>
                <a:latin typeface="Segoe UI"/>
              </a:rPr>
              <a:t>Rabochiy yarus schitaetsya gotovym tolko pri polnom nastile i bezopasnom dostupe</a:t>
            </a:r>
            <a:endParaRPr lang="ru-RU" sz="25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smtClean="0">
                <a:solidFill>
                  <a:srgbClr val="445465"/>
                </a:solidFill>
                <a:latin typeface="Segoe UI"/>
              </a:rPr>
              <a:t>Slayd dolzhen davat binarnyy signal: mozhno rabotat ili rabotu ne nachinat.</a:t>
            </a:r>
            <a:endParaRPr lang="ru-RU" sz="130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09600" y="1930400"/>
            <a:ext cx="4445000" cy="304800"/>
          </a:xfrm>
          <a:prstGeom prst="roundRect">
            <a:avLst>
              <a:gd name="adj" fmla="val 18000"/>
            </a:avLst>
          </a:prstGeom>
          <a:solidFill>
            <a:srgbClr val="C65D18"/>
          </a:solidFill>
          <a:ln w="15875" cap="flat" cmpd="sng" algn="ctr">
            <a:solidFill>
              <a:srgbClr val="C65D1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609600" y="19558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Test prompt: kakoy yarus schitaetsya nedopustimym dlya raboty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2700">
            <a:solidFill>
              <a:srgbClr val="C7D0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600" y="64262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50" smtClean="0">
                <a:solidFill>
                  <a:srgbClr val="6A7782"/>
                </a:solidFill>
                <a:latin typeface="Segoe UI"/>
              </a:rPr>
              <a:t>Montazhnik lesov | Assessment visual build draft</a:t>
            </a:r>
            <a:endParaRPr lang="ru-RU" sz="950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9982200" y="6400800"/>
            <a:ext cx="1600200" cy="254000"/>
          </a:xfrm>
          <a:prstGeom prst="roundRect">
            <a:avLst>
              <a:gd name="adj" fmla="val 16000"/>
            </a:avLst>
          </a:prstGeom>
          <a:solidFill>
            <a:srgbClr val="F4F1EA"/>
          </a:solidFill>
          <a:ln w="12700" cap="flat" cmpd="sng" algn="ctr">
            <a:solidFill>
              <a:srgbClr val="B7C3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9982200" y="6426200"/>
            <a:ext cx="160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smtClean="0">
                <a:solidFill>
                  <a:srgbClr val="77838E"/>
                </a:solidFill>
                <a:latin typeface="Segoe UI"/>
              </a:rPr>
              <a:t>TV anchor / QA slot</a:t>
            </a:r>
            <a:endParaRPr lang="ru-RU" sz="850">
              <a:solidFill>
                <a:srgbClr val="77838E"/>
              </a:solidFill>
              <a:latin typeface="Segoe UI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787400" y="2514600"/>
            <a:ext cx="4724400" cy="299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B8C4C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990600" y="2692400"/>
            <a:ext cx="1320800" cy="279400"/>
          </a:xfrm>
          <a:prstGeom prst="roundRect">
            <a:avLst>
              <a:gd name="adj" fmla="val 18000"/>
            </a:avLst>
          </a:prstGeom>
          <a:solidFill>
            <a:srgbClr val="2E7D5B"/>
          </a:solidFill>
          <a:ln w="15875" cap="flat" cmpd="sng" algn="ctr">
            <a:solidFill>
              <a:srgbClr val="2E7D5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990600" y="2717800"/>
            <a:ext cx="1320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ALLOWED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90600" y="30480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 smtClean="0">
                <a:solidFill>
                  <a:srgbClr val="17324D"/>
                </a:solidFill>
                <a:latin typeface="Segoe UI"/>
              </a:rPr>
              <a:t>Yarus gotov</a:t>
            </a:r>
            <a:endParaRPr lang="ru-RU" sz="15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016000" y="3568700"/>
            <a:ext cx="127000" cy="1270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1219200" y="35052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20" smtClean="0">
                <a:solidFill>
                  <a:srgbClr val="445465"/>
                </a:solidFill>
                <a:latin typeface="Segoe UI"/>
              </a:rPr>
              <a:t>polnyy nastil schityvaetsya kak rabochaya poverkhnost</a:t>
            </a:r>
            <a:endParaRPr lang="ru-RU" sz="112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1016000" y="4000500"/>
            <a:ext cx="127000" cy="1270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/>
          <p:cNvSpPr txBox="1"/>
          <p:nvPr/>
        </p:nvSpPr>
        <p:spPr>
          <a:xfrm>
            <a:off x="1219200" y="39370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l-PL" sz="1120" smtClean="0">
                <a:solidFill>
                  <a:srgbClr val="445465"/>
                </a:solidFill>
                <a:latin typeface="Segoe UI"/>
              </a:rPr>
              <a:t>bezopasnyy dostup ponyaten bez domyslov</a:t>
            </a:r>
            <a:endParaRPr lang="ru-RU" sz="112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1016000" y="4432300"/>
            <a:ext cx="127000" cy="1270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/>
        </p:nvSpPr>
        <p:spPr>
          <a:xfrm>
            <a:off x="1219200" y="43688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20" smtClean="0">
                <a:solidFill>
                  <a:srgbClr val="445465"/>
                </a:solidFill>
                <a:latin typeface="Segoe UI"/>
              </a:rPr>
              <a:t>zashchitnyy kontur na meste</a:t>
            </a:r>
            <a:endParaRPr lang="ru-RU" sz="112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0600" y="50292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40" b="1" smtClean="0">
                <a:solidFill>
                  <a:srgbClr val="6A7782"/>
                </a:solidFill>
                <a:latin typeface="Segoe UI"/>
              </a:rPr>
              <a:t>Mozhno perekhodit k rabote tolko posle etogo minimuma</a:t>
            </a:r>
            <a:endParaRPr lang="ru-RU" sz="1040" b="1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25" name="Скругленный прямоугольник 24"/>
          <p:cNvSpPr/>
          <p:nvPr/>
        </p:nvSpPr>
        <p:spPr>
          <a:xfrm>
            <a:off x="6680200" y="2514600"/>
            <a:ext cx="4724400" cy="299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B8C4C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Скругленный прямоугольник 25"/>
          <p:cNvSpPr/>
          <p:nvPr/>
        </p:nvSpPr>
        <p:spPr>
          <a:xfrm>
            <a:off x="6883400" y="2692400"/>
            <a:ext cx="1320800" cy="279400"/>
          </a:xfrm>
          <a:prstGeom prst="roundRect">
            <a:avLst>
              <a:gd name="adj" fmla="val 18000"/>
            </a:avLst>
          </a:prstGeom>
          <a:solidFill>
            <a:srgbClr val="A63D40"/>
          </a:solidFill>
          <a:ln w="15875" cap="flat" cmpd="sng" algn="ctr">
            <a:solidFill>
              <a:srgbClr val="A63D4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6883400" y="2717800"/>
            <a:ext cx="1320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BLOCKED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83400" y="30480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 smtClean="0">
                <a:solidFill>
                  <a:srgbClr val="17324D"/>
                </a:solidFill>
                <a:latin typeface="Segoe UI"/>
              </a:rPr>
              <a:t>Yarus ne gotov</a:t>
            </a:r>
            <a:endParaRPr lang="ru-RU" sz="15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6908800" y="3568700"/>
            <a:ext cx="127000" cy="1270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/>
          <p:cNvSpPr txBox="1"/>
          <p:nvPr/>
        </p:nvSpPr>
        <p:spPr>
          <a:xfrm>
            <a:off x="7112000" y="35052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20" smtClean="0">
                <a:solidFill>
                  <a:srgbClr val="445465"/>
                </a:solidFill>
                <a:latin typeface="Segoe UI"/>
              </a:rPr>
              <a:t>nepolnyy nastil ili razryv rabochey poverkhnosti</a:t>
            </a:r>
            <a:endParaRPr lang="ru-RU" sz="112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31" name="Овал 30"/>
          <p:cNvSpPr/>
          <p:nvPr/>
        </p:nvSpPr>
        <p:spPr>
          <a:xfrm>
            <a:off x="6908800" y="4000500"/>
            <a:ext cx="127000" cy="1270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7112000" y="39370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20" smtClean="0">
                <a:solidFill>
                  <a:srgbClr val="445465"/>
                </a:solidFill>
                <a:latin typeface="Segoe UI"/>
              </a:rPr>
              <a:t>net bezopasnogo dostupa</a:t>
            </a:r>
            <a:endParaRPr lang="ru-RU" sz="112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33" name="Овал 32"/>
          <p:cNvSpPr/>
          <p:nvPr/>
        </p:nvSpPr>
        <p:spPr>
          <a:xfrm>
            <a:off x="6908800" y="4432300"/>
            <a:ext cx="127000" cy="1270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/>
          <p:cNvSpPr txBox="1"/>
          <p:nvPr/>
        </p:nvSpPr>
        <p:spPr>
          <a:xfrm>
            <a:off x="7112000" y="43688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20" smtClean="0">
                <a:solidFill>
                  <a:srgbClr val="445465"/>
                </a:solidFill>
                <a:latin typeface="Segoe UI"/>
              </a:rPr>
              <a:t>rabotu ne nachinat do ustraneniya prichiny</a:t>
            </a:r>
            <a:endParaRPr lang="ru-RU" sz="112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83400" y="50292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40" b="1" smtClean="0">
                <a:solidFill>
                  <a:srgbClr val="6A7782"/>
                </a:solidFill>
                <a:latin typeface="Segoe UI"/>
              </a:rPr>
              <a:t>Odin blocked-priznak uzhe lomaet dopusk</a:t>
            </a:r>
            <a:endParaRPr lang="ru-RU" sz="1040" b="1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36" name="Скругленный прямоугольник 35"/>
          <p:cNvSpPr/>
          <p:nvPr/>
        </p:nvSpPr>
        <p:spPr>
          <a:xfrm>
            <a:off x="4978400" y="5638800"/>
            <a:ext cx="2235200" cy="304800"/>
          </a:xfrm>
          <a:prstGeom prst="roundRect">
            <a:avLst>
              <a:gd name="adj" fmla="val 18000"/>
            </a:avLst>
          </a:prstGeom>
          <a:solidFill>
            <a:srgbClr val="A63D40"/>
          </a:solidFill>
          <a:ln w="15875" cap="flat" cmpd="sng" algn="ctr">
            <a:solidFill>
              <a:srgbClr val="A63D4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/>
          <p:cNvSpPr txBox="1"/>
          <p:nvPr/>
        </p:nvSpPr>
        <p:spPr>
          <a:xfrm>
            <a:off x="4978400" y="56642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blocked signal dolzhen byt mgnovennym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5565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29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9600" y="431800"/>
            <a:ext cx="1168400" cy="330200"/>
          </a:xfrm>
          <a:prstGeom prst="roundRect">
            <a:avLst>
              <a:gd name="adj" fmla="val 20000"/>
            </a:avLst>
          </a:prstGeom>
          <a:solidFill>
            <a:srgbClr val="2F5D7C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2F5D7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Segoe UI"/>
              </a:rPr>
              <a:t>A-47 / TV-04</a:t>
            </a:r>
            <a:endParaRPr lang="ru-RU" sz="105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55800" y="381000"/>
            <a:ext cx="825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b="1" smtClean="0">
                <a:solidFill>
                  <a:srgbClr val="5E6C78"/>
                </a:solidFill>
                <a:latin typeface="Segoe UI"/>
              </a:rPr>
              <a:t>Assessment hazard board</a:t>
            </a:r>
            <a:endParaRPr lang="ru-RU" sz="1150" b="1">
              <a:solidFill>
                <a:srgbClr val="5E6C78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863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500" b="1" smtClean="0">
                <a:solidFill>
                  <a:srgbClr val="17324D"/>
                </a:solidFill>
                <a:latin typeface="Segoe UI"/>
              </a:rPr>
              <a:t>Yavnyy red flag dolzhen perevodit brigadu v stop, a ne v obsuuzhdenie 'mozhno li dotyanut'</a:t>
            </a:r>
            <a:endParaRPr lang="ru-RU" sz="25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smtClean="0">
                <a:solidFill>
                  <a:srgbClr val="445465"/>
                </a:solidFill>
                <a:latin typeface="Segoe UI"/>
              </a:rPr>
              <a:t>Board materializuet hazard-recognition: odna situatsiya, neskolko risk-signalov i yavnoe deystvie.</a:t>
            </a:r>
            <a:endParaRPr lang="ru-RU" sz="130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09600" y="1930400"/>
            <a:ext cx="4445000" cy="304800"/>
          </a:xfrm>
          <a:prstGeom prst="roundRect">
            <a:avLst>
              <a:gd name="adj" fmla="val 18000"/>
            </a:avLst>
          </a:prstGeom>
          <a:solidFill>
            <a:srgbClr val="C65D18"/>
          </a:solidFill>
          <a:ln w="15875" cap="flat" cmpd="sng" algn="ctr">
            <a:solidFill>
              <a:srgbClr val="C65D1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609600" y="19558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Test prompt: kakoy priznak trebuet nemedlennogo stopa i ustraneniya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2700">
            <a:solidFill>
              <a:srgbClr val="C7D0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600" y="64262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50" smtClean="0">
                <a:solidFill>
                  <a:srgbClr val="6A7782"/>
                </a:solidFill>
                <a:latin typeface="Segoe UI"/>
              </a:rPr>
              <a:t>Montazhnik lesov | Assessment visual build draft</a:t>
            </a:r>
            <a:endParaRPr lang="ru-RU" sz="950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9982200" y="6400800"/>
            <a:ext cx="1600200" cy="254000"/>
          </a:xfrm>
          <a:prstGeom prst="roundRect">
            <a:avLst>
              <a:gd name="adj" fmla="val 16000"/>
            </a:avLst>
          </a:prstGeom>
          <a:solidFill>
            <a:srgbClr val="F4F1EA"/>
          </a:solidFill>
          <a:ln w="12700" cap="flat" cmpd="sng" algn="ctr">
            <a:solidFill>
              <a:srgbClr val="B7C3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9982200" y="6426200"/>
            <a:ext cx="160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smtClean="0">
                <a:solidFill>
                  <a:srgbClr val="77838E"/>
                </a:solidFill>
                <a:latin typeface="Segoe UI"/>
              </a:rPr>
              <a:t>TV anchor / QA slot</a:t>
            </a:r>
            <a:endParaRPr lang="ru-RU" sz="850">
              <a:solidFill>
                <a:srgbClr val="77838E"/>
              </a:solidFill>
              <a:latin typeface="Segoe UI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812800" y="2514600"/>
            <a:ext cx="6578600" cy="309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1041400" y="26670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 smtClean="0">
                <a:solidFill>
                  <a:srgbClr val="17324D"/>
                </a:solidFill>
                <a:latin typeface="Segoe UI"/>
              </a:rPr>
              <a:t>Hazard scene</a:t>
            </a:r>
            <a:endParaRPr lang="ru-RU" sz="14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930400" y="3835400"/>
            <a:ext cx="3175000" cy="254000"/>
          </a:xfrm>
          <a:prstGeom prst="rect">
            <a:avLst/>
          </a:prstGeom>
          <a:solidFill>
            <a:srgbClr val="E8EEF2"/>
          </a:solidFill>
          <a:ln w="25400" cap="flat" cmpd="sng" algn="ctr">
            <a:solidFill>
              <a:srgbClr val="8EA2B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1930400" y="3429000"/>
            <a:ext cx="3175000" cy="127000"/>
          </a:xfrm>
          <a:prstGeom prst="rect">
            <a:avLst/>
          </a:prstGeom>
          <a:solidFill>
            <a:srgbClr val="FAD7D9"/>
          </a:solidFill>
          <a:ln w="25400" cap="flat" cmpd="sng" algn="ctr">
            <a:solidFill>
              <a:srgbClr val="A63D4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/>
          <p:cNvSpPr/>
          <p:nvPr/>
        </p:nvSpPr>
        <p:spPr>
          <a:xfrm>
            <a:off x="3200400" y="3098800"/>
            <a:ext cx="330200" cy="330200"/>
          </a:xfrm>
          <a:prstGeom prst="ellipse">
            <a:avLst/>
          </a:prstGeom>
          <a:solidFill>
            <a:srgbClr val="2F5D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>
            <a:off x="3365500" y="3429000"/>
            <a:ext cx="0" cy="431800"/>
          </a:xfrm>
          <a:prstGeom prst="line">
            <a:avLst/>
          </a:prstGeom>
          <a:ln w="38100">
            <a:solidFill>
              <a:srgbClr val="2F5D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3365500" y="3556000"/>
            <a:ext cx="292100" cy="152400"/>
          </a:xfrm>
          <a:prstGeom prst="line">
            <a:avLst/>
          </a:prstGeom>
          <a:ln w="38100">
            <a:solidFill>
              <a:srgbClr val="2F5D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Скругленный прямоугольник 20"/>
          <p:cNvSpPr/>
          <p:nvPr/>
        </p:nvSpPr>
        <p:spPr>
          <a:xfrm>
            <a:off x="1219200" y="3124200"/>
            <a:ext cx="1447800" cy="279400"/>
          </a:xfrm>
          <a:prstGeom prst="roundRect">
            <a:avLst>
              <a:gd name="adj" fmla="val 18000"/>
            </a:avLst>
          </a:prstGeom>
          <a:solidFill>
            <a:srgbClr val="A63D40"/>
          </a:solidFill>
          <a:ln w="15875" cap="flat" cmpd="sng" algn="ctr">
            <a:solidFill>
              <a:srgbClr val="A63D4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/>
          <p:cNvSpPr txBox="1"/>
          <p:nvPr/>
        </p:nvSpPr>
        <p:spPr>
          <a:xfrm>
            <a:off x="1219200" y="3149600"/>
            <a:ext cx="1447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narushenie zashchity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4521200" y="4191000"/>
            <a:ext cx="1498600" cy="279400"/>
          </a:xfrm>
          <a:prstGeom prst="roundRect">
            <a:avLst>
              <a:gd name="adj" fmla="val 18000"/>
            </a:avLst>
          </a:prstGeom>
          <a:solidFill>
            <a:srgbClr val="C65D18"/>
          </a:solidFill>
          <a:ln w="15875" cap="flat" cmpd="sng" algn="ctr">
            <a:solidFill>
              <a:srgbClr val="C65D1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521200" y="4216400"/>
            <a:ext cx="1498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opasnyy contour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5" name="Скругленный прямоугольник 24"/>
          <p:cNvSpPr/>
          <p:nvPr/>
        </p:nvSpPr>
        <p:spPr>
          <a:xfrm>
            <a:off x="2692400" y="4724400"/>
            <a:ext cx="1625600" cy="279400"/>
          </a:xfrm>
          <a:prstGeom prst="roundRect">
            <a:avLst>
              <a:gd name="adj" fmla="val 18000"/>
            </a:avLst>
          </a:prstGeom>
          <a:solidFill>
            <a:srgbClr val="A63D40"/>
          </a:solidFill>
          <a:ln w="15875" cap="flat" cmpd="sng" algn="ctr">
            <a:solidFill>
              <a:srgbClr val="A63D4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/>
          <p:cNvSpPr txBox="1"/>
          <p:nvPr/>
        </p:nvSpPr>
        <p:spPr>
          <a:xfrm>
            <a:off x="2692400" y="47498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rabotu ne prodolzhat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  <p:cxnSp>
        <p:nvCxnSpPr>
          <p:cNvPr id="27" name="Прямая соединительная линия 26"/>
          <p:cNvCxnSpPr/>
          <p:nvPr/>
        </p:nvCxnSpPr>
        <p:spPr>
          <a:xfrm>
            <a:off x="2692400" y="3403600"/>
            <a:ext cx="152400" cy="50800"/>
          </a:xfrm>
          <a:prstGeom prst="line">
            <a:avLst/>
          </a:prstGeom>
          <a:ln w="22860">
            <a:solidFill>
              <a:srgbClr val="A63D4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 flipH="1" flipV="1">
            <a:off x="4038600" y="3962400"/>
            <a:ext cx="482600" cy="508000"/>
          </a:xfrm>
          <a:prstGeom prst="line">
            <a:avLst/>
          </a:prstGeom>
          <a:ln w="22860">
            <a:solidFill>
              <a:srgbClr val="C65D1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H="1" flipV="1">
            <a:off x="3530600" y="3606800"/>
            <a:ext cx="787400" cy="1270000"/>
          </a:xfrm>
          <a:prstGeom prst="line">
            <a:avLst/>
          </a:prstGeom>
          <a:ln w="22860">
            <a:solidFill>
              <a:srgbClr val="A63D4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Скругленный прямоугольник 29"/>
          <p:cNvSpPr/>
          <p:nvPr/>
        </p:nvSpPr>
        <p:spPr>
          <a:xfrm>
            <a:off x="7924800" y="2692400"/>
            <a:ext cx="3276600" cy="2438400"/>
          </a:xfrm>
          <a:prstGeom prst="roundRect">
            <a:avLst>
              <a:gd name="adj" fmla="val 8000"/>
            </a:avLst>
          </a:prstGeom>
          <a:solidFill>
            <a:srgbClr val="FFF6F6"/>
          </a:solidFill>
          <a:ln w="15875" cap="flat" cmpd="sng" algn="ctr">
            <a:solidFill>
              <a:srgbClr val="D48A8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Скругленный прямоугольник 30"/>
          <p:cNvSpPr/>
          <p:nvPr/>
        </p:nvSpPr>
        <p:spPr>
          <a:xfrm>
            <a:off x="8153400" y="2895600"/>
            <a:ext cx="1371600" cy="279400"/>
          </a:xfrm>
          <a:prstGeom prst="roundRect">
            <a:avLst>
              <a:gd name="adj" fmla="val 18000"/>
            </a:avLst>
          </a:prstGeom>
          <a:solidFill>
            <a:srgbClr val="A63D40"/>
          </a:solidFill>
          <a:ln w="15875" cap="flat" cmpd="sng" algn="ctr">
            <a:solidFill>
              <a:srgbClr val="A63D4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8153400" y="2921000"/>
            <a:ext cx="137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Action panel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3" name="Скругленный прямоугольник 32"/>
          <p:cNvSpPr/>
          <p:nvPr/>
        </p:nvSpPr>
        <p:spPr>
          <a:xfrm>
            <a:off x="8153400" y="3352800"/>
            <a:ext cx="2743200" cy="50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/>
          <p:cNvSpPr/>
          <p:nvPr/>
        </p:nvSpPr>
        <p:spPr>
          <a:xfrm>
            <a:off x="8305800" y="3505200"/>
            <a:ext cx="355600" cy="3556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/>
          <p:cNvSpPr txBox="1"/>
          <p:nvPr/>
        </p:nvSpPr>
        <p:spPr>
          <a:xfrm>
            <a:off x="8305800" y="35052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200" b="1" smtClean="0">
                <a:solidFill>
                  <a:srgbClr val="FFFFFF"/>
                </a:solidFill>
                <a:latin typeface="Segoe UI"/>
              </a:rPr>
              <a:t>1</a:t>
            </a:r>
            <a:endParaRPr lang="ru-RU" sz="1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763000" y="3492500"/>
            <a:ext cx="198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b="1" smtClean="0">
                <a:solidFill>
                  <a:srgbClr val="17324D"/>
                </a:solidFill>
                <a:latin typeface="Segoe UI"/>
              </a:rPr>
              <a:t>STOP</a:t>
            </a:r>
            <a:endParaRPr lang="ru-RU" sz="13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05800" y="3860800"/>
            <a:ext cx="243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sv-SE" sz="1080" smtClean="0">
                <a:solidFill>
                  <a:srgbClr val="445465"/>
                </a:solidFill>
                <a:latin typeface="Segoe UI"/>
              </a:rPr>
              <a:t>Ostanovit rabotu pri yavnom risk-signale.</a:t>
            </a:r>
            <a:endParaRPr lang="ru-RU" sz="108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38" name="Скругленный прямоугольник 37"/>
          <p:cNvSpPr/>
          <p:nvPr/>
        </p:nvSpPr>
        <p:spPr>
          <a:xfrm>
            <a:off x="8153400" y="3962400"/>
            <a:ext cx="2743200" cy="50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/>
          <p:cNvSpPr/>
          <p:nvPr/>
        </p:nvSpPr>
        <p:spPr>
          <a:xfrm>
            <a:off x="8305800" y="4114800"/>
            <a:ext cx="355600" cy="355600"/>
          </a:xfrm>
          <a:prstGeom prst="ellipse">
            <a:avLst/>
          </a:prstGeom>
          <a:solidFill>
            <a:srgbClr val="C65D1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8305800" y="41148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200" b="1" smtClean="0">
                <a:solidFill>
                  <a:srgbClr val="FFFFFF"/>
                </a:solidFill>
                <a:latin typeface="Segoe UI"/>
              </a:rPr>
              <a:t>2</a:t>
            </a:r>
            <a:endParaRPr lang="ru-RU" sz="1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763000" y="4102100"/>
            <a:ext cx="198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b="1" smtClean="0">
                <a:solidFill>
                  <a:srgbClr val="17324D"/>
                </a:solidFill>
                <a:latin typeface="Segoe UI"/>
              </a:rPr>
              <a:t>USTRANIT</a:t>
            </a:r>
            <a:endParaRPr lang="ru-RU" sz="13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05800" y="4470400"/>
            <a:ext cx="243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80" smtClean="0">
                <a:solidFill>
                  <a:srgbClr val="445465"/>
                </a:solidFill>
                <a:latin typeface="Segoe UI"/>
              </a:rPr>
              <a:t>Snachala ustranit prichinu, a ne normalizovat ee.</a:t>
            </a:r>
            <a:endParaRPr lang="ru-RU" sz="108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43" name="Скругленный прямоугольник 42"/>
          <p:cNvSpPr/>
          <p:nvPr/>
        </p:nvSpPr>
        <p:spPr>
          <a:xfrm>
            <a:off x="8153400" y="4572000"/>
            <a:ext cx="2743200" cy="50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Овал 43"/>
          <p:cNvSpPr/>
          <p:nvPr/>
        </p:nvSpPr>
        <p:spPr>
          <a:xfrm>
            <a:off x="8305800" y="4724400"/>
            <a:ext cx="355600" cy="3556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8305800" y="47244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200" b="1" smtClean="0">
                <a:solidFill>
                  <a:srgbClr val="FFFFFF"/>
                </a:solidFill>
                <a:latin typeface="Segoe UI"/>
              </a:rPr>
              <a:t>3</a:t>
            </a:r>
            <a:endParaRPr lang="ru-RU" sz="1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763000" y="4711700"/>
            <a:ext cx="198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b="1" smtClean="0">
                <a:solidFill>
                  <a:srgbClr val="17324D"/>
                </a:solidFill>
                <a:latin typeface="Segoe UI"/>
              </a:rPr>
              <a:t>VERNUTSYA</a:t>
            </a:r>
            <a:endParaRPr lang="ru-RU" sz="13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305800" y="5080000"/>
            <a:ext cx="243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80" smtClean="0">
                <a:solidFill>
                  <a:srgbClr val="445465"/>
                </a:solidFill>
                <a:latin typeface="Segoe UI"/>
              </a:rPr>
              <a:t>Prodolzhit tolko posle povtornoy proverki.</a:t>
            </a:r>
            <a:endParaRPr lang="ru-RU" sz="1080">
              <a:solidFill>
                <a:srgbClr val="445465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348083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293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9600" y="431800"/>
            <a:ext cx="1168400" cy="330200"/>
          </a:xfrm>
          <a:prstGeom prst="roundRect">
            <a:avLst>
              <a:gd name="adj" fmla="val 20000"/>
            </a:avLst>
          </a:prstGeom>
          <a:solidFill>
            <a:srgbClr val="2F5D7C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2F5D7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50" b="1" smtClean="0">
                <a:solidFill>
                  <a:srgbClr val="FFFFFF"/>
                </a:solidFill>
                <a:latin typeface="Segoe UI"/>
              </a:rPr>
              <a:t>A-48 / TV-05</a:t>
            </a:r>
            <a:endParaRPr lang="ru-RU" sz="105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55800" y="381000"/>
            <a:ext cx="825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 b="1" smtClean="0">
                <a:solidFill>
                  <a:srgbClr val="5E6C78"/>
                </a:solidFill>
                <a:latin typeface="Segoe UI"/>
              </a:rPr>
              <a:t>Assessment demolition sequence board</a:t>
            </a:r>
            <a:endParaRPr lang="ru-RU" sz="1150" b="1">
              <a:solidFill>
                <a:srgbClr val="5E6C78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863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500" b="1" smtClean="0">
                <a:solidFill>
                  <a:srgbClr val="17324D"/>
                </a:solidFill>
                <a:latin typeface="Segoe UI"/>
              </a:rPr>
              <a:t>Bezopasnyy demontazh chitaetsya kak poryadok deystviy, a ne kak lyubaya udobnaya razborka</a:t>
            </a:r>
            <a:endParaRPr lang="ru-RU" sz="25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smtClean="0">
                <a:solidFill>
                  <a:srgbClr val="445465"/>
                </a:solidFill>
                <a:latin typeface="Segoe UI"/>
              </a:rPr>
              <a:t>Board dolzhen pokazat sequence logic: kontrol zony, poryadok, peredacha elementa bez sbrosa vniz i stop pri riske.</a:t>
            </a:r>
            <a:endParaRPr lang="ru-RU" sz="130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09600" y="1930400"/>
            <a:ext cx="4445000" cy="304800"/>
          </a:xfrm>
          <a:prstGeom prst="roundRect">
            <a:avLst>
              <a:gd name="adj" fmla="val 18000"/>
            </a:avLst>
          </a:prstGeom>
          <a:solidFill>
            <a:srgbClr val="C65D18"/>
          </a:solidFill>
          <a:ln w="15875" cap="flat" cmpd="sng" algn="ctr">
            <a:solidFill>
              <a:srgbClr val="C65D1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609600" y="19558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Test prompt: kakaya logika demontazha yavlyaetsya pravilnoy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2700">
            <a:solidFill>
              <a:srgbClr val="C7D0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600" y="64262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950" smtClean="0">
                <a:solidFill>
                  <a:srgbClr val="6A7782"/>
                </a:solidFill>
                <a:latin typeface="Segoe UI"/>
              </a:rPr>
              <a:t>Montazhnik lesov | Assessment visual build draft</a:t>
            </a:r>
            <a:endParaRPr lang="ru-RU" sz="950">
              <a:solidFill>
                <a:srgbClr val="6A7782"/>
              </a:solidFill>
              <a:latin typeface="Segoe UI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9982200" y="6400800"/>
            <a:ext cx="1600200" cy="254000"/>
          </a:xfrm>
          <a:prstGeom prst="roundRect">
            <a:avLst>
              <a:gd name="adj" fmla="val 16000"/>
            </a:avLst>
          </a:prstGeom>
          <a:solidFill>
            <a:srgbClr val="F4F1EA"/>
          </a:solidFill>
          <a:ln w="12700" cap="flat" cmpd="sng" algn="ctr">
            <a:solidFill>
              <a:srgbClr val="B7C3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9982200" y="6426200"/>
            <a:ext cx="160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850" smtClean="0">
                <a:solidFill>
                  <a:srgbClr val="77838E"/>
                </a:solidFill>
                <a:latin typeface="Segoe UI"/>
              </a:rPr>
              <a:t>TV anchor / QA slot</a:t>
            </a:r>
            <a:endParaRPr lang="ru-RU" sz="850">
              <a:solidFill>
                <a:srgbClr val="77838E"/>
              </a:solidFill>
              <a:latin typeface="Segoe UI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685800" y="2895600"/>
            <a:ext cx="246380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838200" y="3048000"/>
            <a:ext cx="355600" cy="355600"/>
          </a:xfrm>
          <a:prstGeom prst="ellipse">
            <a:avLst/>
          </a:prstGeom>
          <a:solidFill>
            <a:srgbClr val="2F5D7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838200" y="30480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200" b="1" smtClean="0">
                <a:solidFill>
                  <a:srgbClr val="FFFFFF"/>
                </a:solidFill>
                <a:latin typeface="Segoe UI"/>
              </a:rPr>
              <a:t>1</a:t>
            </a:r>
            <a:endParaRPr lang="ru-RU" sz="1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95400" y="30353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b="1" smtClean="0">
                <a:solidFill>
                  <a:srgbClr val="17324D"/>
                </a:solidFill>
                <a:latin typeface="Segoe UI"/>
              </a:rPr>
              <a:t>Zona pod kontrolem</a:t>
            </a:r>
            <a:endParaRPr lang="ru-RU" sz="13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34036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80" smtClean="0">
                <a:solidFill>
                  <a:srgbClr val="445465"/>
                </a:solidFill>
                <a:latin typeface="Segoe UI"/>
              </a:rPr>
              <a:t>Snachala organizovat zonu i ne dopuskat sluchaynogo prokhoda vnizu.</a:t>
            </a:r>
            <a:endParaRPr lang="ru-RU" sz="1080">
              <a:solidFill>
                <a:srgbClr val="445465"/>
              </a:solidFill>
              <a:latin typeface="Segoe UI"/>
            </a:endParaRPr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>
            <a:off x="3175000" y="3835400"/>
            <a:ext cx="228600" cy="0"/>
          </a:xfrm>
          <a:prstGeom prst="line">
            <a:avLst/>
          </a:prstGeom>
          <a:ln w="22860">
            <a:solidFill>
              <a:srgbClr val="7E8E9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Скругленный прямоугольник 19"/>
          <p:cNvSpPr/>
          <p:nvPr/>
        </p:nvSpPr>
        <p:spPr>
          <a:xfrm>
            <a:off x="3479800" y="2895600"/>
            <a:ext cx="246380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3632200" y="3048000"/>
            <a:ext cx="355600" cy="355600"/>
          </a:xfrm>
          <a:prstGeom prst="ellipse">
            <a:avLst/>
          </a:prstGeom>
          <a:solidFill>
            <a:srgbClr val="2E7D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/>
          <p:cNvSpPr txBox="1"/>
          <p:nvPr/>
        </p:nvSpPr>
        <p:spPr>
          <a:xfrm>
            <a:off x="3632200" y="30480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200" b="1" smtClean="0">
                <a:solidFill>
                  <a:srgbClr val="FFFFFF"/>
                </a:solidFill>
                <a:latin typeface="Segoe UI"/>
              </a:rPr>
              <a:t>2</a:t>
            </a:r>
            <a:endParaRPr lang="ru-RU" sz="1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089400" y="30353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b="1" smtClean="0">
                <a:solidFill>
                  <a:srgbClr val="17324D"/>
                </a:solidFill>
                <a:latin typeface="Segoe UI"/>
              </a:rPr>
              <a:t>Poryadok deystviy</a:t>
            </a:r>
            <a:endParaRPr lang="ru-RU" sz="13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32200" y="34036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80" smtClean="0">
                <a:solidFill>
                  <a:srgbClr val="445465"/>
                </a:solidFill>
                <a:latin typeface="Segoe UI"/>
              </a:rPr>
              <a:t>Razbirat po upravlyaemoy posledovatelnosti, a ne po sluchaynoy udobnosti.</a:t>
            </a:r>
            <a:endParaRPr lang="ru-RU" sz="1080">
              <a:solidFill>
                <a:srgbClr val="445465"/>
              </a:solidFill>
              <a:latin typeface="Segoe UI"/>
            </a:endParaRPr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5969000" y="3835400"/>
            <a:ext cx="228600" cy="0"/>
          </a:xfrm>
          <a:prstGeom prst="line">
            <a:avLst/>
          </a:prstGeom>
          <a:ln w="22860">
            <a:solidFill>
              <a:srgbClr val="7E8E9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Скругленный прямоугольник 25"/>
          <p:cNvSpPr/>
          <p:nvPr/>
        </p:nvSpPr>
        <p:spPr>
          <a:xfrm>
            <a:off x="6273800" y="2895600"/>
            <a:ext cx="246380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/>
          <p:cNvSpPr/>
          <p:nvPr/>
        </p:nvSpPr>
        <p:spPr>
          <a:xfrm>
            <a:off x="6426200" y="3048000"/>
            <a:ext cx="355600" cy="355600"/>
          </a:xfrm>
          <a:prstGeom prst="ellipse">
            <a:avLst/>
          </a:prstGeom>
          <a:solidFill>
            <a:srgbClr val="C65D1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6426200" y="30480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200" b="1" smtClean="0">
                <a:solidFill>
                  <a:srgbClr val="FFFFFF"/>
                </a:solidFill>
                <a:latin typeface="Segoe UI"/>
              </a:rPr>
              <a:t>3</a:t>
            </a:r>
            <a:endParaRPr lang="ru-RU" sz="1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83400" y="30353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b="1" smtClean="0">
                <a:solidFill>
                  <a:srgbClr val="17324D"/>
                </a:solidFill>
                <a:latin typeface="Segoe UI"/>
              </a:rPr>
              <a:t>Bez sbrosa vniz</a:t>
            </a:r>
            <a:endParaRPr lang="ru-RU" sz="13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26200" y="34036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80" smtClean="0">
                <a:solidFill>
                  <a:srgbClr val="445465"/>
                </a:solidFill>
                <a:latin typeface="Segoe UI"/>
              </a:rPr>
              <a:t>Element peredayetsya ili prinimaetsya pod kontrolem, a ne sbrasyvaetsya vniz.</a:t>
            </a:r>
            <a:endParaRPr lang="ru-RU" sz="1080">
              <a:solidFill>
                <a:srgbClr val="445465"/>
              </a:solidFill>
              <a:latin typeface="Segoe UI"/>
            </a:endParaRPr>
          </a:p>
        </p:txBody>
      </p:sp>
      <p:cxnSp>
        <p:nvCxnSpPr>
          <p:cNvPr id="31" name="Прямая соединительная линия 30"/>
          <p:cNvCxnSpPr/>
          <p:nvPr/>
        </p:nvCxnSpPr>
        <p:spPr>
          <a:xfrm>
            <a:off x="8763000" y="3835400"/>
            <a:ext cx="228600" cy="0"/>
          </a:xfrm>
          <a:prstGeom prst="line">
            <a:avLst/>
          </a:prstGeom>
          <a:ln w="22860">
            <a:solidFill>
              <a:srgbClr val="7E8E9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Скругленный прямоугольник 31"/>
          <p:cNvSpPr/>
          <p:nvPr/>
        </p:nvSpPr>
        <p:spPr>
          <a:xfrm>
            <a:off x="9067800" y="2895600"/>
            <a:ext cx="246380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 algn="ctr">
            <a:solidFill>
              <a:srgbClr val="BAC6C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/>
          <p:cNvSpPr/>
          <p:nvPr/>
        </p:nvSpPr>
        <p:spPr>
          <a:xfrm>
            <a:off x="9220200" y="3048000"/>
            <a:ext cx="355600" cy="355600"/>
          </a:xfrm>
          <a:prstGeom prst="ellipse">
            <a:avLst/>
          </a:prstGeom>
          <a:solidFill>
            <a:srgbClr val="A63D4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/>
          <p:cNvSpPr txBox="1"/>
          <p:nvPr/>
        </p:nvSpPr>
        <p:spPr>
          <a:xfrm>
            <a:off x="9220200" y="3048000"/>
            <a:ext cx="35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200" b="1" smtClean="0">
                <a:solidFill>
                  <a:srgbClr val="FFFFFF"/>
                </a:solidFill>
                <a:latin typeface="Segoe UI"/>
              </a:rPr>
              <a:t>4</a:t>
            </a:r>
            <a:endParaRPr lang="ru-RU" sz="1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677400" y="3035300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 b="1" smtClean="0">
                <a:solidFill>
                  <a:srgbClr val="17324D"/>
                </a:solidFill>
                <a:latin typeface="Segoe UI"/>
              </a:rPr>
              <a:t>Stop pri spornom riske</a:t>
            </a:r>
            <a:endParaRPr lang="ru-RU" sz="1300" b="1">
              <a:solidFill>
                <a:srgbClr val="17324D"/>
              </a:solidFill>
              <a:latin typeface="Segoe U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220200" y="34036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080" smtClean="0">
                <a:solidFill>
                  <a:srgbClr val="445465"/>
                </a:solidFill>
                <a:latin typeface="Segoe UI"/>
              </a:rPr>
              <a:t>Pri neyasnom ili opasnom signale rabotu ostanovit i pereproverit contour.</a:t>
            </a:r>
            <a:endParaRPr lang="ru-RU" sz="1080">
              <a:solidFill>
                <a:srgbClr val="445465"/>
              </a:solidFill>
              <a:latin typeface="Segoe UI"/>
            </a:endParaRPr>
          </a:p>
        </p:txBody>
      </p:sp>
      <p:sp>
        <p:nvSpPr>
          <p:cNvPr id="37" name="Скругленный прямоугольник 36"/>
          <p:cNvSpPr/>
          <p:nvPr/>
        </p:nvSpPr>
        <p:spPr>
          <a:xfrm>
            <a:off x="3632200" y="5130800"/>
            <a:ext cx="4953000" cy="558800"/>
          </a:xfrm>
          <a:prstGeom prst="roundRect">
            <a:avLst>
              <a:gd name="adj" fmla="val 12000"/>
            </a:avLst>
          </a:prstGeom>
          <a:solidFill>
            <a:srgbClr val="FFF3F0"/>
          </a:solidFill>
          <a:ln w="15875" cap="flat" cmpd="sng" algn="ctr">
            <a:solidFill>
              <a:srgbClr val="D48A8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Скругленный прямоугольник 37"/>
          <p:cNvSpPr/>
          <p:nvPr/>
        </p:nvSpPr>
        <p:spPr>
          <a:xfrm>
            <a:off x="3860800" y="5270500"/>
            <a:ext cx="1219200" cy="279400"/>
          </a:xfrm>
          <a:prstGeom prst="roundRect">
            <a:avLst>
              <a:gd name="adj" fmla="val 18000"/>
            </a:avLst>
          </a:prstGeom>
          <a:solidFill>
            <a:srgbClr val="A63D40"/>
          </a:solidFill>
          <a:ln w="15875" cap="flat" cmpd="sng" algn="ctr">
            <a:solidFill>
              <a:srgbClr val="A63D4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860800" y="52959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 smtClean="0">
                <a:solidFill>
                  <a:srgbClr val="FFFFFF"/>
                </a:solidFill>
                <a:latin typeface="Segoe UI"/>
              </a:rPr>
              <a:t>NO-GO</a:t>
            </a:r>
            <a:endParaRPr lang="ru-RU" sz="10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207000" y="52324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00" b="1" smtClean="0">
                <a:solidFill>
                  <a:srgbClr val="7A1D22"/>
                </a:solidFill>
                <a:latin typeface="Segoe UI"/>
              </a:rPr>
              <a:t>Tak nelzya: sbros vniz ili snyatie bez kontrolya zony</a:t>
            </a:r>
            <a:endParaRPr lang="ru-RU" sz="1200" b="1">
              <a:solidFill>
                <a:srgbClr val="7A1D22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8503083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</Words>
  <Application>Microsoft Office PowerPoint</Application>
  <PresentationFormat>Произвольный</PresentationFormat>
  <Paragraphs>99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Дмитрий</dc:creator>
  <cp:lastModifiedBy>Дмитрий</cp:lastModifiedBy>
  <cp:revision>1</cp:revision>
  <dcterms:created xsi:type="dcterms:W3CDTF">2026-05-16T08:52:54Z</dcterms:created>
  <dcterms:modified xsi:type="dcterms:W3CDTF">2026-05-16T08:53:07Z</dcterms:modified>
</cp:coreProperties>
</file>