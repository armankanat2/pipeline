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644" y="-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1ECBB-28FA-4D1C-A5CE-BD9C1C9E13D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11C39-CB49-4CC9-878B-B09E5D5C05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0758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1ECBB-28FA-4D1C-A5CE-BD9C1C9E13D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11C39-CB49-4CC9-878B-B09E5D5C05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0760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1ECBB-28FA-4D1C-A5CE-BD9C1C9E13D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11C39-CB49-4CC9-878B-B09E5D5C05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0606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12800" y="1600201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229600" y="1600201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1ECBB-28FA-4D1C-A5CE-BD9C1C9E13D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11C39-CB49-4CC9-878B-B09E5D5C05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0426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1ECBB-28FA-4D1C-A5CE-BD9C1C9E13D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11C39-CB49-4CC9-878B-B09E5D5C05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137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1ECBB-28FA-4D1C-A5CE-BD9C1C9E13D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11C39-CB49-4CC9-878B-B09E5D5C05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8952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1ECBB-28FA-4D1C-A5CE-BD9C1C9E13D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11C39-CB49-4CC9-878B-B09E5D5C05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0360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1ECBB-28FA-4D1C-A5CE-BD9C1C9E13D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11C39-CB49-4CC9-878B-B09E5D5C05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5765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1ECBB-28FA-4D1C-A5CE-BD9C1C9E13D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11C39-CB49-4CC9-878B-B09E5D5C05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543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1ECBB-28FA-4D1C-A5CE-BD9C1C9E13D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11C39-CB49-4CC9-878B-B09E5D5C05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8457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11785600" y="274639"/>
            <a:ext cx="36576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12800" y="274639"/>
            <a:ext cx="107696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1ECBB-28FA-4D1C-A5CE-BD9C1C9E13D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11C39-CB49-4CC9-878B-B09E5D5C05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595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51ECBB-28FA-4D1C-A5CE-BD9C1C9E13D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211C39-CB49-4CC9-878B-B09E5D5C05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3487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F293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609600" y="431800"/>
            <a:ext cx="1041400" cy="330200"/>
          </a:xfrm>
          <a:prstGeom prst="roundRect">
            <a:avLst>
              <a:gd name="adj" fmla="val 22000"/>
            </a:avLst>
          </a:prstGeom>
          <a:solidFill>
            <a:srgbClr val="2F5D7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50" b="1" smtClean="0">
                <a:solidFill>
                  <a:srgbClr val="FFFFFF"/>
                </a:solidFill>
                <a:latin typeface="Segoe UI"/>
              </a:rPr>
              <a:t>ML-20</a:t>
            </a:r>
            <a:endParaRPr lang="ru-RU" sz="105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0" y="3810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50" b="1" smtClean="0">
                <a:solidFill>
                  <a:srgbClr val="5E6C78"/>
                </a:solidFill>
                <a:latin typeface="Segoe UI"/>
              </a:rPr>
              <a:t>05. Start montazha: baza i pervyy yarus</a:t>
            </a:r>
            <a:endParaRPr lang="ru-RU" sz="1150" b="1">
              <a:solidFill>
                <a:srgbClr val="5E6C78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8636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500" b="1" smtClean="0">
                <a:solidFill>
                  <a:srgbClr val="17324D"/>
                </a:solidFill>
                <a:latin typeface="Segoe UI"/>
              </a:rPr>
              <a:t>Kachestvo bazy opredelyaet bezopasnost vsego dalneyshego montazha</a:t>
            </a:r>
            <a:endParaRPr lang="ru-RU" sz="25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14732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 smtClean="0">
                <a:solidFill>
                  <a:srgbClr val="445465"/>
                </a:solidFill>
                <a:latin typeface="Segoe UI"/>
              </a:rPr>
              <a:t>Bezopasnyy start idet ne ot skorosti, a ot pravilnoy logiki: ploshchadka, opory, pervyy yarus i kontrol geometrii.</a:t>
            </a:r>
            <a:endParaRPr lang="ru-RU" sz="1300">
              <a:solidFill>
                <a:srgbClr val="445465"/>
              </a:solidFill>
              <a:latin typeface="Segoe UI"/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2700">
            <a:solidFill>
              <a:srgbClr val="C7D0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9600" y="6426200"/>
            <a:ext cx="609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50" smtClean="0">
                <a:solidFill>
                  <a:srgbClr val="6A7782"/>
                </a:solidFill>
                <a:latin typeface="Segoe UI"/>
              </a:rPr>
              <a:t>Montazhnik lesov | Batch 1 visual build draft</a:t>
            </a:r>
            <a:endParaRPr lang="ru-RU" sz="950">
              <a:solidFill>
                <a:srgbClr val="6A7782"/>
              </a:solidFill>
              <a:latin typeface="Segoe UI"/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10363200" y="6426200"/>
            <a:ext cx="1219200" cy="228600"/>
          </a:xfrm>
          <a:prstGeom prst="roundRect">
            <a:avLst>
              <a:gd name="adj" fmla="val 15000"/>
            </a:avLst>
          </a:prstGeom>
          <a:solidFill>
            <a:srgbClr val="F4F1EA"/>
          </a:solidFill>
          <a:ln w="12700" cap="flat" cmpd="sng" algn="ctr">
            <a:solidFill>
              <a:srgbClr val="B7C3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10363200" y="64389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smtClean="0">
                <a:solidFill>
                  <a:srgbClr val="77838E"/>
                </a:solidFill>
                <a:latin typeface="Segoe UI"/>
              </a:rPr>
              <a:t>QR / client slot</a:t>
            </a:r>
            <a:endParaRPr lang="ru-RU" sz="850">
              <a:solidFill>
                <a:srgbClr val="77838E"/>
              </a:solidFill>
              <a:latin typeface="Segoe UI"/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60400" y="2413000"/>
            <a:ext cx="2286000" cy="1854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7780" cap="flat" cmpd="sng" algn="ctr">
            <a:solidFill>
              <a:srgbClr val="BAC6C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787400" y="25146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 b="1" smtClean="0">
                <a:solidFill>
                  <a:srgbClr val="17324D"/>
                </a:solidFill>
                <a:latin typeface="Segoe UI"/>
              </a:rPr>
              <a:t>Ploshchadka</a:t>
            </a:r>
            <a:endParaRPr lang="ru-RU" sz="16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7400" y="28702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l-PL" sz="1150" smtClean="0">
                <a:solidFill>
                  <a:srgbClr val="425466"/>
                </a:solidFill>
                <a:latin typeface="Segoe UI"/>
              </a:rPr>
              <a:t>Osnovanie, podkhody i rabochaya zona gotovy k startu.</a:t>
            </a:r>
            <a:endParaRPr lang="ru-RU" sz="1150">
              <a:solidFill>
                <a:srgbClr val="425466"/>
              </a:solidFill>
              <a:latin typeface="Segoe UI"/>
            </a:endParaRPr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2971800" y="3327400"/>
            <a:ext cx="304800" cy="0"/>
          </a:xfrm>
          <a:prstGeom prst="line">
            <a:avLst/>
          </a:prstGeom>
          <a:ln w="25400">
            <a:solidFill>
              <a:srgbClr val="6D7E8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Скругленный прямоугольник 15"/>
          <p:cNvSpPr/>
          <p:nvPr/>
        </p:nvSpPr>
        <p:spPr>
          <a:xfrm>
            <a:off x="3378200" y="2413000"/>
            <a:ext cx="2286000" cy="1854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7780" cap="flat" cmpd="sng" algn="ctr">
            <a:solidFill>
              <a:srgbClr val="BAC6C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3505200" y="25146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 b="1" smtClean="0">
                <a:solidFill>
                  <a:srgbClr val="17324D"/>
                </a:solidFill>
                <a:latin typeface="Segoe UI"/>
              </a:rPr>
              <a:t>Opory</a:t>
            </a:r>
            <a:endParaRPr lang="ru-RU" sz="16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05200" y="28702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50" smtClean="0">
                <a:solidFill>
                  <a:srgbClr val="425466"/>
                </a:solidFill>
                <a:latin typeface="Segoe UI"/>
              </a:rPr>
              <a:t>Opornyy kontur vystavlen ustoychivo i bez sluchaynykh podkladok.</a:t>
            </a:r>
            <a:endParaRPr lang="ru-RU" sz="1150">
              <a:solidFill>
                <a:srgbClr val="425466"/>
              </a:solidFill>
              <a:latin typeface="Segoe UI"/>
            </a:endParaRPr>
          </a:p>
        </p:txBody>
      </p:sp>
      <p:cxnSp>
        <p:nvCxnSpPr>
          <p:cNvPr id="19" name="Прямая соединительная линия 18"/>
          <p:cNvCxnSpPr/>
          <p:nvPr/>
        </p:nvCxnSpPr>
        <p:spPr>
          <a:xfrm>
            <a:off x="5689600" y="3327400"/>
            <a:ext cx="304800" cy="0"/>
          </a:xfrm>
          <a:prstGeom prst="line">
            <a:avLst/>
          </a:prstGeom>
          <a:ln w="25400">
            <a:solidFill>
              <a:srgbClr val="6D7E8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Скругленный прямоугольник 19"/>
          <p:cNvSpPr/>
          <p:nvPr/>
        </p:nvSpPr>
        <p:spPr>
          <a:xfrm>
            <a:off x="6096000" y="2413000"/>
            <a:ext cx="2286000" cy="1854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7780" cap="flat" cmpd="sng" algn="ctr">
            <a:solidFill>
              <a:srgbClr val="BAC6C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/>
          <p:cNvSpPr txBox="1"/>
          <p:nvPr/>
        </p:nvSpPr>
        <p:spPr>
          <a:xfrm>
            <a:off x="6223000" y="25146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 b="1" smtClean="0">
                <a:solidFill>
                  <a:srgbClr val="17324D"/>
                </a:solidFill>
                <a:latin typeface="Segoe UI"/>
              </a:rPr>
              <a:t>Pervyy yarus</a:t>
            </a:r>
            <a:endParaRPr lang="ru-RU" sz="16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23000" y="28702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50" smtClean="0">
                <a:solidFill>
                  <a:srgbClr val="425466"/>
                </a:solidFill>
                <a:latin typeface="Segoe UI"/>
              </a:rPr>
              <a:t>Nachalnyy karkas sobiraetsya bez propuskov kritichnykh elementov.</a:t>
            </a:r>
            <a:endParaRPr lang="ru-RU" sz="1150">
              <a:solidFill>
                <a:srgbClr val="425466"/>
              </a:solidFill>
              <a:latin typeface="Segoe UI"/>
            </a:endParaRPr>
          </a:p>
        </p:txBody>
      </p:sp>
      <p:cxnSp>
        <p:nvCxnSpPr>
          <p:cNvPr id="23" name="Прямая соединительная линия 22"/>
          <p:cNvCxnSpPr/>
          <p:nvPr/>
        </p:nvCxnSpPr>
        <p:spPr>
          <a:xfrm>
            <a:off x="8407400" y="3327400"/>
            <a:ext cx="304800" cy="0"/>
          </a:xfrm>
          <a:prstGeom prst="line">
            <a:avLst/>
          </a:prstGeom>
          <a:ln w="25400">
            <a:solidFill>
              <a:srgbClr val="6D7E8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Скругленный прямоугольник 23"/>
          <p:cNvSpPr/>
          <p:nvPr/>
        </p:nvSpPr>
        <p:spPr>
          <a:xfrm>
            <a:off x="8813800" y="2413000"/>
            <a:ext cx="2286000" cy="1854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7780" cap="flat" cmpd="sng" algn="ctr">
            <a:solidFill>
              <a:srgbClr val="BAC6C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/>
          <p:cNvSpPr txBox="1"/>
          <p:nvPr/>
        </p:nvSpPr>
        <p:spPr>
          <a:xfrm>
            <a:off x="8940800" y="25146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 b="1" smtClean="0">
                <a:solidFill>
                  <a:srgbClr val="17324D"/>
                </a:solidFill>
                <a:latin typeface="Segoe UI"/>
              </a:rPr>
              <a:t>Kontrol geometrii</a:t>
            </a:r>
            <a:endParaRPr lang="ru-RU" sz="16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940800" y="28702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50" smtClean="0">
                <a:solidFill>
                  <a:srgbClr val="425466"/>
                </a:solidFill>
                <a:latin typeface="Segoe UI"/>
              </a:rPr>
              <a:t>Do nabora vysoty proveryaem vertikalnost i obshchuyu logiku skhemy.</a:t>
            </a:r>
            <a:endParaRPr lang="ru-RU" sz="1150">
              <a:solidFill>
                <a:srgbClr val="425466"/>
              </a:solidFill>
              <a:latin typeface="Segoe UI"/>
            </a:endParaRPr>
          </a:p>
        </p:txBody>
      </p:sp>
      <p:sp>
        <p:nvSpPr>
          <p:cNvPr id="27" name="Скругленный прямоугольник 26"/>
          <p:cNvSpPr/>
          <p:nvPr/>
        </p:nvSpPr>
        <p:spPr>
          <a:xfrm>
            <a:off x="660400" y="4470400"/>
            <a:ext cx="4368800" cy="304800"/>
          </a:xfrm>
          <a:prstGeom prst="roundRect">
            <a:avLst>
              <a:gd name="adj" fmla="val 18000"/>
            </a:avLst>
          </a:prstGeom>
          <a:solidFill>
            <a:srgbClr val="C65D1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/>
          <p:cNvSpPr txBox="1"/>
          <p:nvPr/>
        </p:nvSpPr>
        <p:spPr>
          <a:xfrm>
            <a:off x="660400" y="4495800"/>
            <a:ext cx="4368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 smtClean="0">
                <a:solidFill>
                  <a:srgbClr val="FFFFFF"/>
                </a:solidFill>
                <a:latin typeface="Segoe UI"/>
              </a:rPr>
              <a:t>Oshibka v baze ne ostaetsya lokalnoy</a:t>
            </a:r>
            <a:endParaRPr lang="ru-RU" sz="1000" b="1">
              <a:solidFill>
                <a:srgbClr val="FFFFFF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05158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F293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609600" y="431800"/>
            <a:ext cx="1041400" cy="330200"/>
          </a:xfrm>
          <a:prstGeom prst="roundRect">
            <a:avLst>
              <a:gd name="adj" fmla="val 22000"/>
            </a:avLst>
          </a:prstGeom>
          <a:solidFill>
            <a:srgbClr val="2F5D7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50" b="1" smtClean="0">
                <a:solidFill>
                  <a:srgbClr val="FFFFFF"/>
                </a:solidFill>
                <a:latin typeface="Segoe UI"/>
              </a:rPr>
              <a:t>ML-22</a:t>
            </a:r>
            <a:endParaRPr lang="ru-RU" sz="105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0" y="3810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50" b="1" smtClean="0">
                <a:solidFill>
                  <a:srgbClr val="5E6C78"/>
                </a:solidFill>
                <a:latin typeface="Segoe UI"/>
              </a:rPr>
              <a:t>05. Start montazha: baza i pervyy yarus</a:t>
            </a:r>
            <a:endParaRPr lang="ru-RU" sz="1150" b="1">
              <a:solidFill>
                <a:srgbClr val="5E6C78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8636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500" b="1" smtClean="0">
                <a:solidFill>
                  <a:srgbClr val="17324D"/>
                </a:solidFill>
                <a:latin typeface="Segoe UI"/>
              </a:rPr>
              <a:t>Pervyy yarus sobiraetsya po poryadku, a ne po improvizatsii</a:t>
            </a:r>
            <a:endParaRPr lang="ru-RU" sz="25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14732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 smtClean="0">
                <a:solidFill>
                  <a:srgbClr val="445465"/>
                </a:solidFill>
                <a:latin typeface="Segoe UI"/>
              </a:rPr>
              <a:t>Poryadok vazhen ne menshe samikh elementov: imenno on uderzhivaet geometriyu v protsesse sborki.</a:t>
            </a:r>
            <a:endParaRPr lang="ru-RU" sz="1300">
              <a:solidFill>
                <a:srgbClr val="445465"/>
              </a:solidFill>
              <a:latin typeface="Segoe UI"/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2700">
            <a:solidFill>
              <a:srgbClr val="C7D0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9600" y="6426200"/>
            <a:ext cx="609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50" smtClean="0">
                <a:solidFill>
                  <a:srgbClr val="6A7782"/>
                </a:solidFill>
                <a:latin typeface="Segoe UI"/>
              </a:rPr>
              <a:t>Montazhnik lesov | Batch 1 visual build draft</a:t>
            </a:r>
            <a:endParaRPr lang="ru-RU" sz="950">
              <a:solidFill>
                <a:srgbClr val="6A7782"/>
              </a:solidFill>
              <a:latin typeface="Segoe UI"/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10363200" y="6426200"/>
            <a:ext cx="1219200" cy="228600"/>
          </a:xfrm>
          <a:prstGeom prst="roundRect">
            <a:avLst>
              <a:gd name="adj" fmla="val 15000"/>
            </a:avLst>
          </a:prstGeom>
          <a:solidFill>
            <a:srgbClr val="F4F1EA"/>
          </a:solidFill>
          <a:ln w="12700" cap="flat" cmpd="sng" algn="ctr">
            <a:solidFill>
              <a:srgbClr val="B7C3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10363200" y="64389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smtClean="0">
                <a:solidFill>
                  <a:srgbClr val="77838E"/>
                </a:solidFill>
                <a:latin typeface="Segoe UI"/>
              </a:rPr>
              <a:t>QR / client slot</a:t>
            </a:r>
            <a:endParaRPr lang="ru-RU" sz="850">
              <a:solidFill>
                <a:srgbClr val="77838E"/>
              </a:solidFill>
              <a:latin typeface="Segoe UI"/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736600" y="2667000"/>
            <a:ext cx="2463800" cy="190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 cap="flat" cmpd="sng" algn="ctr">
            <a:solidFill>
              <a:srgbClr val="B8C4C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/>
          <p:cNvSpPr/>
          <p:nvPr/>
        </p:nvSpPr>
        <p:spPr>
          <a:xfrm>
            <a:off x="889000" y="2819400"/>
            <a:ext cx="355600" cy="355600"/>
          </a:xfrm>
          <a:prstGeom prst="ellipse">
            <a:avLst/>
          </a:prstGeom>
          <a:solidFill>
            <a:srgbClr val="2F5D7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89000" y="2819400"/>
            <a:ext cx="35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200" b="1" smtClean="0">
                <a:solidFill>
                  <a:srgbClr val="FFFFFF"/>
                </a:solidFill>
                <a:latin typeface="Segoe UI"/>
              </a:rPr>
              <a:t>1</a:t>
            </a:r>
            <a:endParaRPr lang="ru-RU" sz="12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46200" y="28194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 smtClean="0">
                <a:solidFill>
                  <a:srgbClr val="17324D"/>
                </a:solidFill>
                <a:latin typeface="Segoe UI"/>
              </a:rPr>
              <a:t>Opory</a:t>
            </a:r>
            <a:endParaRPr lang="ru-RU" sz="14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89000" y="32258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50" smtClean="0">
                <a:solidFill>
                  <a:srgbClr val="425466"/>
                </a:solidFill>
                <a:latin typeface="Segoe UI"/>
              </a:rPr>
              <a:t>Podgotovit ustoychivuyu oporu pod start konstruktsii.</a:t>
            </a:r>
            <a:endParaRPr lang="ru-RU" sz="1150">
              <a:solidFill>
                <a:srgbClr val="425466"/>
              </a:solidFill>
              <a:latin typeface="Segoe UI"/>
            </a:endParaRPr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3225800" y="3619500"/>
            <a:ext cx="228600" cy="0"/>
          </a:xfrm>
          <a:prstGeom prst="line">
            <a:avLst/>
          </a:prstGeom>
          <a:ln w="22860">
            <a:solidFill>
              <a:srgbClr val="8A99A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Скругленный прямоугольник 17"/>
          <p:cNvSpPr/>
          <p:nvPr/>
        </p:nvSpPr>
        <p:spPr>
          <a:xfrm>
            <a:off x="3530600" y="2667000"/>
            <a:ext cx="2463800" cy="190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 cap="flat" cmpd="sng" algn="ctr">
            <a:solidFill>
              <a:srgbClr val="B8C4C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/>
          <p:cNvSpPr/>
          <p:nvPr/>
        </p:nvSpPr>
        <p:spPr>
          <a:xfrm>
            <a:off x="3683000" y="2819400"/>
            <a:ext cx="355600" cy="355600"/>
          </a:xfrm>
          <a:prstGeom prst="ellipse">
            <a:avLst/>
          </a:prstGeom>
          <a:solidFill>
            <a:srgbClr val="2F5D7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3683000" y="2819400"/>
            <a:ext cx="35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200" b="1" smtClean="0">
                <a:solidFill>
                  <a:srgbClr val="FFFFFF"/>
                </a:solidFill>
                <a:latin typeface="Segoe UI"/>
              </a:rPr>
              <a:t>2</a:t>
            </a:r>
            <a:endParaRPr lang="ru-RU" sz="12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40200" y="28194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 smtClean="0">
                <a:solidFill>
                  <a:srgbClr val="17324D"/>
                </a:solidFill>
                <a:latin typeface="Segoe UI"/>
              </a:rPr>
              <a:t>Stoyki</a:t>
            </a:r>
            <a:endParaRPr lang="ru-RU" sz="14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83000" y="32258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50" smtClean="0">
                <a:solidFill>
                  <a:srgbClr val="425466"/>
                </a:solidFill>
                <a:latin typeface="Segoe UI"/>
              </a:rPr>
              <a:t>Vystavit pervye stoyki bez perekosa i sluchaynogo shaga.</a:t>
            </a:r>
            <a:endParaRPr lang="ru-RU" sz="1150">
              <a:solidFill>
                <a:srgbClr val="425466"/>
              </a:solidFill>
              <a:latin typeface="Segoe UI"/>
            </a:endParaRPr>
          </a:p>
        </p:txBody>
      </p:sp>
      <p:cxnSp>
        <p:nvCxnSpPr>
          <p:cNvPr id="23" name="Прямая соединительная линия 22"/>
          <p:cNvCxnSpPr/>
          <p:nvPr/>
        </p:nvCxnSpPr>
        <p:spPr>
          <a:xfrm>
            <a:off x="6019800" y="3619500"/>
            <a:ext cx="228600" cy="0"/>
          </a:xfrm>
          <a:prstGeom prst="line">
            <a:avLst/>
          </a:prstGeom>
          <a:ln w="22860">
            <a:solidFill>
              <a:srgbClr val="8A99A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Скругленный прямоугольник 23"/>
          <p:cNvSpPr/>
          <p:nvPr/>
        </p:nvSpPr>
        <p:spPr>
          <a:xfrm>
            <a:off x="6324600" y="2667000"/>
            <a:ext cx="2463800" cy="190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 cap="flat" cmpd="sng" algn="ctr">
            <a:solidFill>
              <a:srgbClr val="B8C4C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/>
          <p:cNvSpPr/>
          <p:nvPr/>
        </p:nvSpPr>
        <p:spPr>
          <a:xfrm>
            <a:off x="6477000" y="2819400"/>
            <a:ext cx="355600" cy="355600"/>
          </a:xfrm>
          <a:prstGeom prst="ellipse">
            <a:avLst/>
          </a:prstGeom>
          <a:solidFill>
            <a:srgbClr val="2F5D7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/>
          <p:cNvSpPr txBox="1"/>
          <p:nvPr/>
        </p:nvSpPr>
        <p:spPr>
          <a:xfrm>
            <a:off x="6477000" y="2819400"/>
            <a:ext cx="35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200" b="1" smtClean="0">
                <a:solidFill>
                  <a:srgbClr val="FFFFFF"/>
                </a:solidFill>
                <a:latin typeface="Segoe UI"/>
              </a:rPr>
              <a:t>3</a:t>
            </a:r>
            <a:endParaRPr lang="ru-RU" sz="12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934200" y="28194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 smtClean="0">
                <a:solidFill>
                  <a:srgbClr val="17324D"/>
                </a:solidFill>
                <a:latin typeface="Segoe UI"/>
              </a:rPr>
              <a:t>Gorizontalnye elementy</a:t>
            </a:r>
            <a:endParaRPr lang="ru-RU" sz="14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77000" y="32258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50" smtClean="0">
                <a:solidFill>
                  <a:srgbClr val="425466"/>
                </a:solidFill>
                <a:latin typeface="Segoe UI"/>
              </a:rPr>
              <a:t>Svyazat karkas v chitaemuyu ramku pervogo yarusa.</a:t>
            </a:r>
            <a:endParaRPr lang="ru-RU" sz="1150">
              <a:solidFill>
                <a:srgbClr val="425466"/>
              </a:solidFill>
              <a:latin typeface="Segoe UI"/>
            </a:endParaRPr>
          </a:p>
        </p:txBody>
      </p:sp>
      <p:cxnSp>
        <p:nvCxnSpPr>
          <p:cNvPr id="29" name="Прямая соединительная линия 28"/>
          <p:cNvCxnSpPr/>
          <p:nvPr/>
        </p:nvCxnSpPr>
        <p:spPr>
          <a:xfrm>
            <a:off x="8813800" y="3619500"/>
            <a:ext cx="228600" cy="0"/>
          </a:xfrm>
          <a:prstGeom prst="line">
            <a:avLst/>
          </a:prstGeom>
          <a:ln w="22860">
            <a:solidFill>
              <a:srgbClr val="8A99A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Скругленный прямоугольник 29"/>
          <p:cNvSpPr/>
          <p:nvPr/>
        </p:nvSpPr>
        <p:spPr>
          <a:xfrm>
            <a:off x="9118600" y="2667000"/>
            <a:ext cx="2463800" cy="190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 cap="flat" cmpd="sng" algn="ctr">
            <a:solidFill>
              <a:srgbClr val="B8C4C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Овал 30"/>
          <p:cNvSpPr/>
          <p:nvPr/>
        </p:nvSpPr>
        <p:spPr>
          <a:xfrm>
            <a:off x="9271000" y="2819400"/>
            <a:ext cx="355600" cy="355600"/>
          </a:xfrm>
          <a:prstGeom prst="ellipse">
            <a:avLst/>
          </a:prstGeom>
          <a:solidFill>
            <a:srgbClr val="2F5D7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/>
          <p:cNvSpPr txBox="1"/>
          <p:nvPr/>
        </p:nvSpPr>
        <p:spPr>
          <a:xfrm>
            <a:off x="9271000" y="2819400"/>
            <a:ext cx="35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200" b="1" smtClean="0">
                <a:solidFill>
                  <a:srgbClr val="FFFFFF"/>
                </a:solidFill>
                <a:latin typeface="Segoe UI"/>
              </a:rPr>
              <a:t>4</a:t>
            </a:r>
            <a:endParaRPr lang="ru-RU" sz="12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728200" y="28194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 smtClean="0">
                <a:solidFill>
                  <a:srgbClr val="17324D"/>
                </a:solidFill>
                <a:latin typeface="Segoe UI"/>
              </a:rPr>
              <a:t>Pervye svyazi</a:t>
            </a:r>
            <a:endParaRPr lang="ru-RU" sz="14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271000" y="32258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50" smtClean="0">
                <a:solidFill>
                  <a:srgbClr val="425466"/>
                </a:solidFill>
                <a:latin typeface="Segoe UI"/>
              </a:rPr>
              <a:t>Zafiksirovat zhestkost do prodolzheniya rabot.</a:t>
            </a:r>
            <a:endParaRPr lang="ru-RU" sz="1150">
              <a:solidFill>
                <a:srgbClr val="425466"/>
              </a:solidFill>
              <a:latin typeface="Segoe UI"/>
            </a:endParaRPr>
          </a:p>
        </p:txBody>
      </p:sp>
      <p:sp>
        <p:nvSpPr>
          <p:cNvPr id="35" name="Скругленный прямоугольник 34"/>
          <p:cNvSpPr/>
          <p:nvPr/>
        </p:nvSpPr>
        <p:spPr>
          <a:xfrm>
            <a:off x="736600" y="4800600"/>
            <a:ext cx="5257800" cy="304800"/>
          </a:xfrm>
          <a:prstGeom prst="roundRect">
            <a:avLst>
              <a:gd name="adj" fmla="val 18000"/>
            </a:avLst>
          </a:prstGeom>
          <a:solidFill>
            <a:srgbClr val="2F5D7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/>
          <p:cNvSpPr txBox="1"/>
          <p:nvPr/>
        </p:nvSpPr>
        <p:spPr>
          <a:xfrm>
            <a:off x="736600" y="4826000"/>
            <a:ext cx="5257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 smtClean="0">
                <a:solidFill>
                  <a:srgbClr val="FFFFFF"/>
                </a:solidFill>
                <a:latin typeface="Segoe UI"/>
              </a:rPr>
              <a:t>Poryadok sborki uderzhivaet geometriyu</a:t>
            </a:r>
            <a:endParaRPr lang="ru-RU" sz="1000" b="1">
              <a:solidFill>
                <a:srgbClr val="FFFFFF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5985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F293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609600" y="431800"/>
            <a:ext cx="1041400" cy="330200"/>
          </a:xfrm>
          <a:prstGeom prst="roundRect">
            <a:avLst>
              <a:gd name="adj" fmla="val 22000"/>
            </a:avLst>
          </a:prstGeom>
          <a:solidFill>
            <a:srgbClr val="2F5D7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50" b="1" smtClean="0">
                <a:solidFill>
                  <a:srgbClr val="FFFFFF"/>
                </a:solidFill>
                <a:latin typeface="Segoe UI"/>
              </a:rPr>
              <a:t>ML-26</a:t>
            </a:r>
            <a:endParaRPr lang="ru-RU" sz="105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0" y="3810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l-PL" sz="1150" b="1" smtClean="0">
                <a:solidFill>
                  <a:srgbClr val="5E6C78"/>
                </a:solidFill>
                <a:latin typeface="Segoe UI"/>
              </a:rPr>
              <a:t>06. Nabor vysoty, kreplenie i zhestkost skhemy</a:t>
            </a:r>
            <a:endParaRPr lang="ru-RU" sz="1150" b="1">
              <a:solidFill>
                <a:srgbClr val="5E6C78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8636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500" b="1" smtClean="0">
                <a:solidFill>
                  <a:srgbClr val="17324D"/>
                </a:solidFill>
                <a:latin typeface="Segoe UI"/>
              </a:rPr>
              <a:t>Vysota dobavlyaetsya tolko vmeste s kontrolem ustoychivosti</a:t>
            </a:r>
            <a:endParaRPr lang="ru-RU" sz="25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14732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 smtClean="0">
                <a:solidFill>
                  <a:srgbClr val="445465"/>
                </a:solidFill>
                <a:latin typeface="Segoe UI"/>
              </a:rPr>
              <a:t>Novyy yarus nelzya vosprinimat kak prosto dostavku detaley naverkh: kazhdyy etap trebuet proverki i krepleniya.</a:t>
            </a:r>
            <a:endParaRPr lang="ru-RU" sz="1300">
              <a:solidFill>
                <a:srgbClr val="445465"/>
              </a:solidFill>
              <a:latin typeface="Segoe UI"/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2700">
            <a:solidFill>
              <a:srgbClr val="C7D0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9600" y="6426200"/>
            <a:ext cx="609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50" smtClean="0">
                <a:solidFill>
                  <a:srgbClr val="6A7782"/>
                </a:solidFill>
                <a:latin typeface="Segoe UI"/>
              </a:rPr>
              <a:t>Montazhnik lesov | Batch 1 visual build draft</a:t>
            </a:r>
            <a:endParaRPr lang="ru-RU" sz="950">
              <a:solidFill>
                <a:srgbClr val="6A7782"/>
              </a:solidFill>
              <a:latin typeface="Segoe UI"/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10363200" y="6426200"/>
            <a:ext cx="1219200" cy="228600"/>
          </a:xfrm>
          <a:prstGeom prst="roundRect">
            <a:avLst>
              <a:gd name="adj" fmla="val 15000"/>
            </a:avLst>
          </a:prstGeom>
          <a:solidFill>
            <a:srgbClr val="F4F1EA"/>
          </a:solidFill>
          <a:ln w="12700" cap="flat" cmpd="sng" algn="ctr">
            <a:solidFill>
              <a:srgbClr val="B7C3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10363200" y="64389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smtClean="0">
                <a:solidFill>
                  <a:srgbClr val="77838E"/>
                </a:solidFill>
                <a:latin typeface="Segoe UI"/>
              </a:rPr>
              <a:t>QR / client slot</a:t>
            </a:r>
            <a:endParaRPr lang="ru-RU" sz="850">
              <a:solidFill>
                <a:srgbClr val="77838E"/>
              </a:solidFill>
              <a:latin typeface="Segoe UI"/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3987800" y="2184400"/>
            <a:ext cx="4216400" cy="711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7780" cap="flat" cmpd="sng" algn="ctr">
            <a:solidFill>
              <a:srgbClr val="BAC6C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4114800" y="2286000"/>
            <a:ext cx="3962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 b="1" smtClean="0">
                <a:solidFill>
                  <a:srgbClr val="17324D"/>
                </a:solidFill>
                <a:latin typeface="Segoe UI"/>
              </a:rPr>
              <a:t>Nabor yarusa</a:t>
            </a:r>
            <a:endParaRPr lang="ru-RU" sz="16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14800" y="2641600"/>
            <a:ext cx="3962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50" smtClean="0">
                <a:solidFill>
                  <a:srgbClr val="425466"/>
                </a:solidFill>
                <a:latin typeface="Segoe UI"/>
              </a:rPr>
              <a:t>Podnyat konstruktsiyu na sleduyushchiy uroven tolko posle gotovnosti predydushchego.</a:t>
            </a:r>
            <a:endParaRPr lang="ru-RU" sz="1150">
              <a:solidFill>
                <a:srgbClr val="425466"/>
              </a:solidFill>
              <a:latin typeface="Segoe UI"/>
            </a:endParaRPr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6096000" y="2921000"/>
            <a:ext cx="0" cy="127000"/>
          </a:xfrm>
          <a:prstGeom prst="line">
            <a:avLst/>
          </a:prstGeom>
          <a:ln w="25400">
            <a:solidFill>
              <a:srgbClr val="6D7E8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Скругленный прямоугольник 15"/>
          <p:cNvSpPr/>
          <p:nvPr/>
        </p:nvSpPr>
        <p:spPr>
          <a:xfrm>
            <a:off x="3987800" y="3073400"/>
            <a:ext cx="4216400" cy="711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7780" cap="flat" cmpd="sng" algn="ctr">
            <a:solidFill>
              <a:srgbClr val="BAC6C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4114800" y="3175000"/>
            <a:ext cx="3962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 b="1" smtClean="0">
                <a:solidFill>
                  <a:srgbClr val="17324D"/>
                </a:solidFill>
                <a:latin typeface="Segoe UI"/>
              </a:rPr>
              <a:t>Kontrol</a:t>
            </a:r>
            <a:endParaRPr lang="ru-RU" sz="16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14800" y="3530600"/>
            <a:ext cx="3962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50" smtClean="0">
                <a:solidFill>
                  <a:srgbClr val="425466"/>
                </a:solidFill>
                <a:latin typeface="Segoe UI"/>
              </a:rPr>
              <a:t>Proverit geometriyu i chitaemost silovoy logiki skhemy.</a:t>
            </a:r>
            <a:endParaRPr lang="ru-RU" sz="1150">
              <a:solidFill>
                <a:srgbClr val="425466"/>
              </a:solidFill>
              <a:latin typeface="Segoe UI"/>
            </a:endParaRPr>
          </a:p>
        </p:txBody>
      </p:sp>
      <p:cxnSp>
        <p:nvCxnSpPr>
          <p:cNvPr id="19" name="Прямая соединительная линия 18"/>
          <p:cNvCxnSpPr/>
          <p:nvPr/>
        </p:nvCxnSpPr>
        <p:spPr>
          <a:xfrm>
            <a:off x="6096000" y="3810000"/>
            <a:ext cx="0" cy="127000"/>
          </a:xfrm>
          <a:prstGeom prst="line">
            <a:avLst/>
          </a:prstGeom>
          <a:ln w="25400">
            <a:solidFill>
              <a:srgbClr val="6D7E8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Скругленный прямоугольник 19"/>
          <p:cNvSpPr/>
          <p:nvPr/>
        </p:nvSpPr>
        <p:spPr>
          <a:xfrm>
            <a:off x="3987800" y="3962400"/>
            <a:ext cx="4216400" cy="711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7780" cap="flat" cmpd="sng" algn="ctr">
            <a:solidFill>
              <a:srgbClr val="BAC6C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/>
          <p:cNvSpPr txBox="1"/>
          <p:nvPr/>
        </p:nvSpPr>
        <p:spPr>
          <a:xfrm>
            <a:off x="4114800" y="4064000"/>
            <a:ext cx="3962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 b="1" smtClean="0">
                <a:solidFill>
                  <a:srgbClr val="17324D"/>
                </a:solidFill>
                <a:latin typeface="Segoe UI"/>
              </a:rPr>
              <a:t>Kreplenie</a:t>
            </a:r>
            <a:endParaRPr lang="ru-RU" sz="16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14800" y="4419600"/>
            <a:ext cx="3962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50" smtClean="0">
                <a:solidFill>
                  <a:srgbClr val="425466"/>
                </a:solidFill>
                <a:latin typeface="Segoe UI"/>
              </a:rPr>
              <a:t>Dobavit svyazi i fiksatsiyu do perekhoda k sleduyushchemu rostu.</a:t>
            </a:r>
            <a:endParaRPr lang="ru-RU" sz="1150">
              <a:solidFill>
                <a:srgbClr val="425466"/>
              </a:solidFill>
              <a:latin typeface="Segoe UI"/>
            </a:endParaRPr>
          </a:p>
        </p:txBody>
      </p:sp>
      <p:cxnSp>
        <p:nvCxnSpPr>
          <p:cNvPr id="23" name="Прямая соединительная линия 22"/>
          <p:cNvCxnSpPr/>
          <p:nvPr/>
        </p:nvCxnSpPr>
        <p:spPr>
          <a:xfrm>
            <a:off x="6096000" y="4699000"/>
            <a:ext cx="0" cy="127000"/>
          </a:xfrm>
          <a:prstGeom prst="line">
            <a:avLst/>
          </a:prstGeom>
          <a:ln w="25400">
            <a:solidFill>
              <a:srgbClr val="6D7E8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Скругленный прямоугольник 23"/>
          <p:cNvSpPr/>
          <p:nvPr/>
        </p:nvSpPr>
        <p:spPr>
          <a:xfrm>
            <a:off x="3987800" y="4851400"/>
            <a:ext cx="4216400" cy="711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7780" cap="flat" cmpd="sng" algn="ctr">
            <a:solidFill>
              <a:srgbClr val="BAC6C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/>
          <p:cNvSpPr txBox="1"/>
          <p:nvPr/>
        </p:nvSpPr>
        <p:spPr>
          <a:xfrm>
            <a:off x="4114800" y="4953000"/>
            <a:ext cx="3962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 b="1" smtClean="0">
                <a:solidFill>
                  <a:srgbClr val="17324D"/>
                </a:solidFill>
                <a:latin typeface="Segoe UI"/>
              </a:rPr>
              <a:t>Dalneyshee narashchivanie</a:t>
            </a:r>
            <a:endParaRPr lang="ru-RU" sz="16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114800" y="5308600"/>
            <a:ext cx="3962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50" smtClean="0">
                <a:solidFill>
                  <a:srgbClr val="425466"/>
                </a:solidFill>
                <a:latin typeface="Segoe UI"/>
              </a:rPr>
              <a:t>Prodolzhat tolko v upravlyaemom i ustoychivom rezhime.</a:t>
            </a:r>
            <a:endParaRPr lang="ru-RU" sz="1150">
              <a:solidFill>
                <a:srgbClr val="425466"/>
              </a:solidFill>
              <a:latin typeface="Segoe UI"/>
            </a:endParaRPr>
          </a:p>
        </p:txBody>
      </p:sp>
      <p:sp>
        <p:nvSpPr>
          <p:cNvPr id="27" name="Скругленный прямоугольник 26"/>
          <p:cNvSpPr/>
          <p:nvPr/>
        </p:nvSpPr>
        <p:spPr>
          <a:xfrm>
            <a:off x="4038600" y="5816600"/>
            <a:ext cx="4114800" cy="304800"/>
          </a:xfrm>
          <a:prstGeom prst="roundRect">
            <a:avLst>
              <a:gd name="adj" fmla="val 18000"/>
            </a:avLst>
          </a:prstGeom>
          <a:solidFill>
            <a:srgbClr val="C65D1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/>
          <p:cNvSpPr txBox="1"/>
          <p:nvPr/>
        </p:nvSpPr>
        <p:spPr>
          <a:xfrm>
            <a:off x="4038600" y="5842000"/>
            <a:ext cx="411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l-PL" sz="1000" b="1" smtClean="0">
                <a:solidFill>
                  <a:srgbClr val="FFFFFF"/>
                </a:solidFill>
                <a:latin typeface="Segoe UI"/>
              </a:rPr>
              <a:t>Rost konstruktsii bez kontrolya nedopustim</a:t>
            </a:r>
            <a:endParaRPr lang="ru-RU" sz="1000" b="1">
              <a:solidFill>
                <a:srgbClr val="FFFFFF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653177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F293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609600" y="431800"/>
            <a:ext cx="1041400" cy="330200"/>
          </a:xfrm>
          <a:prstGeom prst="roundRect">
            <a:avLst>
              <a:gd name="adj" fmla="val 22000"/>
            </a:avLst>
          </a:prstGeom>
          <a:solidFill>
            <a:srgbClr val="2F5D7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50" b="1" smtClean="0">
                <a:solidFill>
                  <a:srgbClr val="FFFFFF"/>
                </a:solidFill>
                <a:latin typeface="Segoe UI"/>
              </a:rPr>
              <a:t>ML-27</a:t>
            </a:r>
            <a:endParaRPr lang="ru-RU" sz="105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0" y="3810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l-PL" sz="1150" b="1" smtClean="0">
                <a:solidFill>
                  <a:srgbClr val="5E6C78"/>
                </a:solidFill>
                <a:latin typeface="Segoe UI"/>
              </a:rPr>
              <a:t>06. Nabor vysoty, kreplenie i zhestkost skhemy</a:t>
            </a:r>
            <a:endParaRPr lang="ru-RU" sz="1150" b="1">
              <a:solidFill>
                <a:srgbClr val="5E6C78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8636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500" b="1" smtClean="0">
                <a:solidFill>
                  <a:srgbClr val="17324D"/>
                </a:solidFill>
                <a:latin typeface="Segoe UI"/>
              </a:rPr>
              <a:t>Nedostroennyy yarus ne yavlyaetsya bezopasnoy rabochey pozitsiey</a:t>
            </a:r>
            <a:endParaRPr lang="ru-RU" sz="25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14732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 smtClean="0">
                <a:solidFill>
                  <a:srgbClr val="445465"/>
                </a:solidFill>
                <a:latin typeface="Segoe UI"/>
              </a:rPr>
              <a:t>U novogo yarusa est poryadok: karkas, svyazi, rabochaya ploshchadka i zashchita do prodolzheniya rosta.</a:t>
            </a:r>
            <a:endParaRPr lang="ru-RU" sz="1300">
              <a:solidFill>
                <a:srgbClr val="445465"/>
              </a:solidFill>
              <a:latin typeface="Segoe UI"/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2700">
            <a:solidFill>
              <a:srgbClr val="C7D0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9600" y="6426200"/>
            <a:ext cx="609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50" smtClean="0">
                <a:solidFill>
                  <a:srgbClr val="6A7782"/>
                </a:solidFill>
                <a:latin typeface="Segoe UI"/>
              </a:rPr>
              <a:t>Montazhnik lesov | Batch 1 visual build draft</a:t>
            </a:r>
            <a:endParaRPr lang="ru-RU" sz="950">
              <a:solidFill>
                <a:srgbClr val="6A7782"/>
              </a:solidFill>
              <a:latin typeface="Segoe UI"/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10363200" y="6426200"/>
            <a:ext cx="1219200" cy="228600"/>
          </a:xfrm>
          <a:prstGeom prst="roundRect">
            <a:avLst>
              <a:gd name="adj" fmla="val 15000"/>
            </a:avLst>
          </a:prstGeom>
          <a:solidFill>
            <a:srgbClr val="F4F1EA"/>
          </a:solidFill>
          <a:ln w="12700" cap="flat" cmpd="sng" algn="ctr">
            <a:solidFill>
              <a:srgbClr val="B7C3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10363200" y="64389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smtClean="0">
                <a:solidFill>
                  <a:srgbClr val="77838E"/>
                </a:solidFill>
                <a:latin typeface="Segoe UI"/>
              </a:rPr>
              <a:t>QR / client slot</a:t>
            </a:r>
            <a:endParaRPr lang="ru-RU" sz="850">
              <a:solidFill>
                <a:srgbClr val="77838E"/>
              </a:solidFill>
              <a:latin typeface="Segoe UI"/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736600" y="2692400"/>
            <a:ext cx="2463800" cy="193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 cap="flat" cmpd="sng" algn="ctr">
            <a:solidFill>
              <a:srgbClr val="B8C4C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/>
          <p:cNvSpPr/>
          <p:nvPr/>
        </p:nvSpPr>
        <p:spPr>
          <a:xfrm>
            <a:off x="889000" y="2844800"/>
            <a:ext cx="355600" cy="355600"/>
          </a:xfrm>
          <a:prstGeom prst="ellipse">
            <a:avLst/>
          </a:prstGeom>
          <a:solidFill>
            <a:srgbClr val="2E7D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89000" y="2844800"/>
            <a:ext cx="35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200" b="1" smtClean="0">
                <a:solidFill>
                  <a:srgbClr val="FFFFFF"/>
                </a:solidFill>
                <a:latin typeface="Segoe UI"/>
              </a:rPr>
              <a:t>1</a:t>
            </a:r>
            <a:endParaRPr lang="ru-RU" sz="12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46200" y="28448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 smtClean="0">
                <a:solidFill>
                  <a:srgbClr val="17324D"/>
                </a:solidFill>
                <a:latin typeface="Segoe UI"/>
              </a:rPr>
              <a:t>Karkas yarusa</a:t>
            </a:r>
            <a:endParaRPr lang="ru-RU" sz="14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89000" y="32512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l-PL" sz="1150" smtClean="0">
                <a:solidFill>
                  <a:srgbClr val="425466"/>
                </a:solidFill>
                <a:latin typeface="Segoe UI"/>
              </a:rPr>
              <a:t>Sobrat nesushchiy kontur bez propuskov na starte.</a:t>
            </a:r>
            <a:endParaRPr lang="ru-RU" sz="1150">
              <a:solidFill>
                <a:srgbClr val="425466"/>
              </a:solidFill>
              <a:latin typeface="Segoe UI"/>
            </a:endParaRPr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3225800" y="3657600"/>
            <a:ext cx="228600" cy="0"/>
          </a:xfrm>
          <a:prstGeom prst="line">
            <a:avLst/>
          </a:prstGeom>
          <a:ln w="22860">
            <a:solidFill>
              <a:srgbClr val="8A99A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Скругленный прямоугольник 17"/>
          <p:cNvSpPr/>
          <p:nvPr/>
        </p:nvSpPr>
        <p:spPr>
          <a:xfrm>
            <a:off x="3530600" y="2692400"/>
            <a:ext cx="2463800" cy="193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 cap="flat" cmpd="sng" algn="ctr">
            <a:solidFill>
              <a:srgbClr val="B8C4C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/>
          <p:cNvSpPr/>
          <p:nvPr/>
        </p:nvSpPr>
        <p:spPr>
          <a:xfrm>
            <a:off x="3683000" y="2844800"/>
            <a:ext cx="355600" cy="355600"/>
          </a:xfrm>
          <a:prstGeom prst="ellipse">
            <a:avLst/>
          </a:prstGeom>
          <a:solidFill>
            <a:srgbClr val="2E7D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3683000" y="2844800"/>
            <a:ext cx="35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200" b="1" smtClean="0">
                <a:solidFill>
                  <a:srgbClr val="FFFFFF"/>
                </a:solidFill>
                <a:latin typeface="Segoe UI"/>
              </a:rPr>
              <a:t>2</a:t>
            </a:r>
            <a:endParaRPr lang="ru-RU" sz="12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40200" y="28448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 smtClean="0">
                <a:solidFill>
                  <a:srgbClr val="17324D"/>
                </a:solidFill>
                <a:latin typeface="Segoe UI"/>
              </a:rPr>
              <a:t>Svyazi i zhestkost</a:t>
            </a:r>
            <a:endParaRPr lang="ru-RU" sz="14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83000" y="32512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50" smtClean="0">
                <a:solidFill>
                  <a:srgbClr val="425466"/>
                </a:solidFill>
                <a:latin typeface="Segoe UI"/>
              </a:rPr>
              <a:t>Vernut skheme ustoychivost do sleduyushchikh operatsiy.</a:t>
            </a:r>
            <a:endParaRPr lang="ru-RU" sz="1150">
              <a:solidFill>
                <a:srgbClr val="425466"/>
              </a:solidFill>
              <a:latin typeface="Segoe UI"/>
            </a:endParaRPr>
          </a:p>
        </p:txBody>
      </p:sp>
      <p:cxnSp>
        <p:nvCxnSpPr>
          <p:cNvPr id="23" name="Прямая соединительная линия 22"/>
          <p:cNvCxnSpPr/>
          <p:nvPr/>
        </p:nvCxnSpPr>
        <p:spPr>
          <a:xfrm>
            <a:off x="6019800" y="3657600"/>
            <a:ext cx="228600" cy="0"/>
          </a:xfrm>
          <a:prstGeom prst="line">
            <a:avLst/>
          </a:prstGeom>
          <a:ln w="22860">
            <a:solidFill>
              <a:srgbClr val="8A99A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Скругленный прямоугольник 23"/>
          <p:cNvSpPr/>
          <p:nvPr/>
        </p:nvSpPr>
        <p:spPr>
          <a:xfrm>
            <a:off x="6324600" y="2692400"/>
            <a:ext cx="2463800" cy="193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 cap="flat" cmpd="sng" algn="ctr">
            <a:solidFill>
              <a:srgbClr val="B8C4C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/>
          <p:cNvSpPr/>
          <p:nvPr/>
        </p:nvSpPr>
        <p:spPr>
          <a:xfrm>
            <a:off x="6477000" y="2844800"/>
            <a:ext cx="355600" cy="355600"/>
          </a:xfrm>
          <a:prstGeom prst="ellipse">
            <a:avLst/>
          </a:prstGeom>
          <a:solidFill>
            <a:srgbClr val="2E7D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/>
          <p:cNvSpPr txBox="1"/>
          <p:nvPr/>
        </p:nvSpPr>
        <p:spPr>
          <a:xfrm>
            <a:off x="6477000" y="2844800"/>
            <a:ext cx="35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200" b="1" smtClean="0">
                <a:solidFill>
                  <a:srgbClr val="FFFFFF"/>
                </a:solidFill>
                <a:latin typeface="Segoe UI"/>
              </a:rPr>
              <a:t>3</a:t>
            </a:r>
            <a:endParaRPr lang="ru-RU" sz="12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934200" y="28448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 smtClean="0">
                <a:solidFill>
                  <a:srgbClr val="17324D"/>
                </a:solidFill>
                <a:latin typeface="Segoe UI"/>
              </a:rPr>
              <a:t>Rabochaya ploshchadka</a:t>
            </a:r>
            <a:endParaRPr lang="ru-RU" sz="14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77000" y="32512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l-PL" sz="1150" smtClean="0">
                <a:solidFill>
                  <a:srgbClr val="425466"/>
                </a:solidFill>
                <a:latin typeface="Segoe UI"/>
              </a:rPr>
              <a:t>Podgotovit nastil tolko na gotovoy osnove.</a:t>
            </a:r>
            <a:endParaRPr lang="ru-RU" sz="1150">
              <a:solidFill>
                <a:srgbClr val="425466"/>
              </a:solidFill>
              <a:latin typeface="Segoe UI"/>
            </a:endParaRPr>
          </a:p>
        </p:txBody>
      </p:sp>
      <p:cxnSp>
        <p:nvCxnSpPr>
          <p:cNvPr id="29" name="Прямая соединительная линия 28"/>
          <p:cNvCxnSpPr/>
          <p:nvPr/>
        </p:nvCxnSpPr>
        <p:spPr>
          <a:xfrm>
            <a:off x="8813800" y="3657600"/>
            <a:ext cx="228600" cy="0"/>
          </a:xfrm>
          <a:prstGeom prst="line">
            <a:avLst/>
          </a:prstGeom>
          <a:ln w="22860">
            <a:solidFill>
              <a:srgbClr val="8A99A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Скругленный прямоугольник 29"/>
          <p:cNvSpPr/>
          <p:nvPr/>
        </p:nvSpPr>
        <p:spPr>
          <a:xfrm>
            <a:off x="9118600" y="2692400"/>
            <a:ext cx="2463800" cy="193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 cap="flat" cmpd="sng" algn="ctr">
            <a:solidFill>
              <a:srgbClr val="B8C4C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Овал 30"/>
          <p:cNvSpPr/>
          <p:nvPr/>
        </p:nvSpPr>
        <p:spPr>
          <a:xfrm>
            <a:off x="9271000" y="2844800"/>
            <a:ext cx="355600" cy="355600"/>
          </a:xfrm>
          <a:prstGeom prst="ellipse">
            <a:avLst/>
          </a:prstGeom>
          <a:solidFill>
            <a:srgbClr val="2E7D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/>
          <p:cNvSpPr txBox="1"/>
          <p:nvPr/>
        </p:nvSpPr>
        <p:spPr>
          <a:xfrm>
            <a:off x="9271000" y="2844800"/>
            <a:ext cx="35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200" b="1" smtClean="0">
                <a:solidFill>
                  <a:srgbClr val="FFFFFF"/>
                </a:solidFill>
                <a:latin typeface="Segoe UI"/>
              </a:rPr>
              <a:t>4</a:t>
            </a:r>
            <a:endParaRPr lang="ru-RU" sz="12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728200" y="28448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 smtClean="0">
                <a:solidFill>
                  <a:srgbClr val="17324D"/>
                </a:solidFill>
                <a:latin typeface="Segoe UI"/>
              </a:rPr>
              <a:t>Zashchita</a:t>
            </a:r>
            <a:endParaRPr lang="ru-RU" sz="14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271000" y="32512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50" smtClean="0">
                <a:solidFill>
                  <a:srgbClr val="425466"/>
                </a:solidFill>
                <a:latin typeface="Segoe UI"/>
              </a:rPr>
              <a:t>Proverit ograzhdenie i dostup pered prodolzheniem nabora vysoty.</a:t>
            </a:r>
            <a:endParaRPr lang="ru-RU" sz="1150">
              <a:solidFill>
                <a:srgbClr val="425466"/>
              </a:solidFill>
              <a:latin typeface="Segoe UI"/>
            </a:endParaRPr>
          </a:p>
        </p:txBody>
      </p:sp>
      <p:sp>
        <p:nvSpPr>
          <p:cNvPr id="35" name="Скругленный прямоугольник 34"/>
          <p:cNvSpPr/>
          <p:nvPr/>
        </p:nvSpPr>
        <p:spPr>
          <a:xfrm>
            <a:off x="6172200" y="4851400"/>
            <a:ext cx="4394200" cy="304800"/>
          </a:xfrm>
          <a:prstGeom prst="roundRect">
            <a:avLst>
              <a:gd name="adj" fmla="val 18000"/>
            </a:avLst>
          </a:prstGeom>
          <a:solidFill>
            <a:srgbClr val="A63D4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/>
          <p:cNvSpPr txBox="1"/>
          <p:nvPr/>
        </p:nvSpPr>
        <p:spPr>
          <a:xfrm>
            <a:off x="6172200" y="4876800"/>
            <a:ext cx="4394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 smtClean="0">
                <a:solidFill>
                  <a:srgbClr val="FFFFFF"/>
                </a:solidFill>
                <a:latin typeface="Segoe UI"/>
              </a:rPr>
              <a:t>Nelzya rabotat s nedostroennogo yarusa</a:t>
            </a:r>
            <a:endParaRPr lang="ru-RU" sz="1000" b="1">
              <a:solidFill>
                <a:srgbClr val="FFFFFF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54543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F293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609600" y="431800"/>
            <a:ext cx="1041400" cy="330200"/>
          </a:xfrm>
          <a:prstGeom prst="roundRect">
            <a:avLst>
              <a:gd name="adj" fmla="val 22000"/>
            </a:avLst>
          </a:prstGeom>
          <a:solidFill>
            <a:srgbClr val="2F5D7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50" b="1" smtClean="0">
                <a:solidFill>
                  <a:srgbClr val="FFFFFF"/>
                </a:solidFill>
                <a:latin typeface="Segoe UI"/>
              </a:rPr>
              <a:t>ML-36</a:t>
            </a:r>
            <a:endParaRPr lang="ru-RU" sz="105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0" y="3810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nn-NO" sz="1150" b="1" smtClean="0">
                <a:solidFill>
                  <a:srgbClr val="5E6C78"/>
                </a:solidFill>
                <a:latin typeface="Segoe UI"/>
              </a:rPr>
              <a:t>07. Proverka pered ekspluatatsiey i pravila raboty na lesakh</a:t>
            </a:r>
            <a:endParaRPr lang="ru-RU" sz="1150" b="1">
              <a:solidFill>
                <a:srgbClr val="5E6C78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8636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500" b="1" smtClean="0">
                <a:solidFill>
                  <a:srgbClr val="17324D"/>
                </a:solidFill>
                <a:latin typeface="Segoe UI"/>
              </a:rPr>
              <a:t>Sobral ne znachit dopustil k rabote</a:t>
            </a:r>
            <a:endParaRPr lang="ru-RU" sz="25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14732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 smtClean="0">
                <a:solidFill>
                  <a:srgbClr val="445465"/>
                </a:solidFill>
                <a:latin typeface="Segoe UI"/>
              </a:rPr>
              <a:t>Mezhdu montazhom i ekspluatatsiey est obyazatelnyy etap proverki: imenno on otdelyaet sobrannuyu skhemu ot bezopasnogo dopuska.</a:t>
            </a:r>
            <a:endParaRPr lang="ru-RU" sz="1300">
              <a:solidFill>
                <a:srgbClr val="445465"/>
              </a:solidFill>
              <a:latin typeface="Segoe UI"/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2700">
            <a:solidFill>
              <a:srgbClr val="C7D0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9600" y="6426200"/>
            <a:ext cx="609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50" smtClean="0">
                <a:solidFill>
                  <a:srgbClr val="6A7782"/>
                </a:solidFill>
                <a:latin typeface="Segoe UI"/>
              </a:rPr>
              <a:t>Montazhnik lesov | Batch 1 visual build draft</a:t>
            </a:r>
            <a:endParaRPr lang="ru-RU" sz="950">
              <a:solidFill>
                <a:srgbClr val="6A7782"/>
              </a:solidFill>
              <a:latin typeface="Segoe UI"/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10363200" y="6426200"/>
            <a:ext cx="1219200" cy="228600"/>
          </a:xfrm>
          <a:prstGeom prst="roundRect">
            <a:avLst>
              <a:gd name="adj" fmla="val 15000"/>
            </a:avLst>
          </a:prstGeom>
          <a:solidFill>
            <a:srgbClr val="F4F1EA"/>
          </a:solidFill>
          <a:ln w="12700" cap="flat" cmpd="sng" algn="ctr">
            <a:solidFill>
              <a:srgbClr val="B7C3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10363200" y="64389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smtClean="0">
                <a:solidFill>
                  <a:srgbClr val="77838E"/>
                </a:solidFill>
                <a:latin typeface="Segoe UI"/>
              </a:rPr>
              <a:t>QR / client slot</a:t>
            </a:r>
            <a:endParaRPr lang="ru-RU" sz="850">
              <a:solidFill>
                <a:srgbClr val="77838E"/>
              </a:solidFill>
              <a:latin typeface="Segoe UI"/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889000" y="2794000"/>
            <a:ext cx="3149600" cy="1854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7780" cap="flat" cmpd="sng" algn="ctr">
            <a:solidFill>
              <a:srgbClr val="BAC6C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1016000" y="28956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 b="1" smtClean="0">
                <a:solidFill>
                  <a:srgbClr val="17324D"/>
                </a:solidFill>
                <a:latin typeface="Segoe UI"/>
              </a:rPr>
              <a:t>Sborka</a:t>
            </a:r>
            <a:endParaRPr lang="ru-RU" sz="16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16000" y="32512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50" smtClean="0">
                <a:solidFill>
                  <a:srgbClr val="425466"/>
                </a:solidFill>
                <a:latin typeface="Segoe UI"/>
              </a:rPr>
              <a:t>Konstruktsiya doshla do rabochego sostoyaniya po montazhnoy logike.</a:t>
            </a:r>
            <a:endParaRPr lang="ru-RU" sz="1150">
              <a:solidFill>
                <a:srgbClr val="425466"/>
              </a:solidFill>
              <a:latin typeface="Segoe UI"/>
            </a:endParaRP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1092200" y="2413000"/>
            <a:ext cx="1371600" cy="279400"/>
          </a:xfrm>
          <a:prstGeom prst="roundRect">
            <a:avLst>
              <a:gd name="adj" fmla="val 18000"/>
            </a:avLst>
          </a:prstGeom>
          <a:solidFill>
            <a:srgbClr val="2F5D7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1092200" y="2438400"/>
            <a:ext cx="1371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 smtClean="0">
                <a:solidFill>
                  <a:srgbClr val="FFFFFF"/>
                </a:solidFill>
                <a:latin typeface="Segoe UI"/>
              </a:rPr>
              <a:t>Etap 1</a:t>
            </a:r>
            <a:endParaRPr lang="ru-RU" sz="1000" b="1">
              <a:solidFill>
                <a:srgbClr val="FFFFFF"/>
              </a:solidFill>
              <a:latin typeface="Segoe UI"/>
            </a:endParaRPr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4064000" y="3708400"/>
            <a:ext cx="355600" cy="0"/>
          </a:xfrm>
          <a:prstGeom prst="line">
            <a:avLst/>
          </a:prstGeom>
          <a:ln w="25400">
            <a:solidFill>
              <a:srgbClr val="7E8E9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Скругленный прямоугольник 17"/>
          <p:cNvSpPr/>
          <p:nvPr/>
        </p:nvSpPr>
        <p:spPr>
          <a:xfrm>
            <a:off x="4521200" y="2794000"/>
            <a:ext cx="3149600" cy="1854200"/>
          </a:xfrm>
          <a:prstGeom prst="roundRect">
            <a:avLst>
              <a:gd name="adj" fmla="val 15000"/>
            </a:avLst>
          </a:prstGeom>
          <a:solidFill>
            <a:srgbClr val="FFF6E7"/>
          </a:solidFill>
          <a:ln w="17780" cap="flat" cmpd="sng" algn="ctr">
            <a:solidFill>
              <a:srgbClr val="E0B66B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/>
          <p:cNvSpPr txBox="1"/>
          <p:nvPr/>
        </p:nvSpPr>
        <p:spPr>
          <a:xfrm>
            <a:off x="4648200" y="28956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 b="1" smtClean="0">
                <a:solidFill>
                  <a:srgbClr val="17324D"/>
                </a:solidFill>
                <a:latin typeface="Segoe UI"/>
              </a:rPr>
              <a:t>Proverka</a:t>
            </a:r>
            <a:endParaRPr lang="ru-RU" sz="16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48200" y="32512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50" smtClean="0">
                <a:solidFill>
                  <a:srgbClr val="425466"/>
                </a:solidFill>
                <a:latin typeface="Segoe UI"/>
              </a:rPr>
              <a:t>Uzly, nastily, zashchita i dostup prokhodyat obyazatelnyy kontrol.</a:t>
            </a:r>
            <a:endParaRPr lang="ru-RU" sz="1150">
              <a:solidFill>
                <a:srgbClr val="425466"/>
              </a:solidFill>
              <a:latin typeface="Segoe UI"/>
            </a:endParaRPr>
          </a:p>
        </p:txBody>
      </p:sp>
      <p:sp>
        <p:nvSpPr>
          <p:cNvPr id="21" name="Скругленный прямоугольник 20"/>
          <p:cNvSpPr/>
          <p:nvPr/>
        </p:nvSpPr>
        <p:spPr>
          <a:xfrm>
            <a:off x="4724400" y="2413000"/>
            <a:ext cx="1371600" cy="279400"/>
          </a:xfrm>
          <a:prstGeom prst="roundRect">
            <a:avLst>
              <a:gd name="adj" fmla="val 18000"/>
            </a:avLst>
          </a:prstGeom>
          <a:solidFill>
            <a:srgbClr val="C65D1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/>
          <p:cNvSpPr txBox="1"/>
          <p:nvPr/>
        </p:nvSpPr>
        <p:spPr>
          <a:xfrm>
            <a:off x="4724400" y="2438400"/>
            <a:ext cx="1371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 smtClean="0">
                <a:solidFill>
                  <a:srgbClr val="FFFFFF"/>
                </a:solidFill>
                <a:latin typeface="Segoe UI"/>
              </a:rPr>
              <a:t>Etap 2</a:t>
            </a:r>
            <a:endParaRPr lang="ru-RU" sz="1000" b="1">
              <a:solidFill>
                <a:srgbClr val="FFFFFF"/>
              </a:solidFill>
              <a:latin typeface="Segoe UI"/>
            </a:endParaRPr>
          </a:p>
        </p:txBody>
      </p:sp>
      <p:cxnSp>
        <p:nvCxnSpPr>
          <p:cNvPr id="23" name="Прямая соединительная линия 22"/>
          <p:cNvCxnSpPr/>
          <p:nvPr/>
        </p:nvCxnSpPr>
        <p:spPr>
          <a:xfrm>
            <a:off x="7696200" y="3708400"/>
            <a:ext cx="355600" cy="0"/>
          </a:xfrm>
          <a:prstGeom prst="line">
            <a:avLst/>
          </a:prstGeom>
          <a:ln w="25400">
            <a:solidFill>
              <a:srgbClr val="7E8E9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Скругленный прямоугольник 23"/>
          <p:cNvSpPr/>
          <p:nvPr/>
        </p:nvSpPr>
        <p:spPr>
          <a:xfrm>
            <a:off x="8153400" y="2794000"/>
            <a:ext cx="3149600" cy="1854200"/>
          </a:xfrm>
          <a:prstGeom prst="roundRect">
            <a:avLst>
              <a:gd name="adj" fmla="val 15000"/>
            </a:avLst>
          </a:prstGeom>
          <a:solidFill>
            <a:srgbClr val="F4FBF7"/>
          </a:solidFill>
          <a:ln w="17780" cap="flat" cmpd="sng" algn="ctr">
            <a:solidFill>
              <a:srgbClr val="98C7A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/>
          <p:cNvSpPr txBox="1"/>
          <p:nvPr/>
        </p:nvSpPr>
        <p:spPr>
          <a:xfrm>
            <a:off x="8280400" y="28956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 b="1" smtClean="0">
                <a:solidFill>
                  <a:srgbClr val="17324D"/>
                </a:solidFill>
                <a:latin typeface="Segoe UI"/>
              </a:rPr>
              <a:t>Dopusk k ekspluatatsii</a:t>
            </a:r>
            <a:endParaRPr lang="ru-RU" sz="16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80400" y="32512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50" smtClean="0">
                <a:solidFill>
                  <a:srgbClr val="425466"/>
                </a:solidFill>
                <a:latin typeface="Segoe UI"/>
              </a:rPr>
              <a:t>Rabota razreshaetsya tolko posle podtverzhdennoy gotovnosti.</a:t>
            </a:r>
            <a:endParaRPr lang="ru-RU" sz="1150">
              <a:solidFill>
                <a:srgbClr val="425466"/>
              </a:solidFill>
              <a:latin typeface="Segoe UI"/>
            </a:endParaRPr>
          </a:p>
        </p:txBody>
      </p:sp>
      <p:sp>
        <p:nvSpPr>
          <p:cNvPr id="27" name="Скругленный прямоугольник 26"/>
          <p:cNvSpPr/>
          <p:nvPr/>
        </p:nvSpPr>
        <p:spPr>
          <a:xfrm>
            <a:off x="8356600" y="2413000"/>
            <a:ext cx="1371600" cy="279400"/>
          </a:xfrm>
          <a:prstGeom prst="roundRect">
            <a:avLst>
              <a:gd name="adj" fmla="val 18000"/>
            </a:avLst>
          </a:prstGeom>
          <a:solidFill>
            <a:srgbClr val="2E7D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/>
          <p:cNvSpPr txBox="1"/>
          <p:nvPr/>
        </p:nvSpPr>
        <p:spPr>
          <a:xfrm>
            <a:off x="8356600" y="2438400"/>
            <a:ext cx="1371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 smtClean="0">
                <a:solidFill>
                  <a:srgbClr val="FFFFFF"/>
                </a:solidFill>
                <a:latin typeface="Segoe UI"/>
              </a:rPr>
              <a:t>Etap 3</a:t>
            </a:r>
            <a:endParaRPr lang="ru-RU" sz="1000" b="1">
              <a:solidFill>
                <a:srgbClr val="FFFFFF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19253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F293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609600" y="431800"/>
            <a:ext cx="1041400" cy="330200"/>
          </a:xfrm>
          <a:prstGeom prst="roundRect">
            <a:avLst>
              <a:gd name="adj" fmla="val 22000"/>
            </a:avLst>
          </a:prstGeom>
          <a:solidFill>
            <a:srgbClr val="2F5D7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50" b="1" smtClean="0">
                <a:solidFill>
                  <a:srgbClr val="FFFFFF"/>
                </a:solidFill>
                <a:latin typeface="Segoe UI"/>
              </a:rPr>
              <a:t>ML-37</a:t>
            </a:r>
            <a:endParaRPr lang="ru-RU" sz="105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0" y="3810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nn-NO" sz="1150" b="1" smtClean="0">
                <a:solidFill>
                  <a:srgbClr val="5E6C78"/>
                </a:solidFill>
                <a:latin typeface="Segoe UI"/>
              </a:rPr>
              <a:t>07. Proverka pered ekspluatatsiey i pravila raboty na lesakh</a:t>
            </a:r>
            <a:endParaRPr lang="ru-RU" sz="1150" b="1">
              <a:solidFill>
                <a:srgbClr val="5E6C78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8636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500" b="1" smtClean="0">
                <a:solidFill>
                  <a:srgbClr val="17324D"/>
                </a:solidFill>
                <a:latin typeface="Segoe UI"/>
              </a:rPr>
              <a:t>Pered ekspluatatsiey lesa dolzhny byt provereny po minimumu</a:t>
            </a:r>
            <a:endParaRPr lang="ru-RU" sz="25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14732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 smtClean="0">
                <a:solidFill>
                  <a:srgbClr val="445465"/>
                </a:solidFill>
                <a:latin typeface="Segoe UI"/>
              </a:rPr>
              <a:t>Dopusk k rabote vydaetsya po cheklistu, a ne po vpechatleniyu: proveryaem klyuchevye zony gotovnosti.</a:t>
            </a:r>
            <a:endParaRPr lang="ru-RU" sz="1300">
              <a:solidFill>
                <a:srgbClr val="445465"/>
              </a:solidFill>
              <a:latin typeface="Segoe UI"/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2700">
            <a:solidFill>
              <a:srgbClr val="C7D0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9600" y="6426200"/>
            <a:ext cx="609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50" smtClean="0">
                <a:solidFill>
                  <a:srgbClr val="6A7782"/>
                </a:solidFill>
                <a:latin typeface="Segoe UI"/>
              </a:rPr>
              <a:t>Montazhnik lesov | Batch 1 visual build draft</a:t>
            </a:r>
            <a:endParaRPr lang="ru-RU" sz="950">
              <a:solidFill>
                <a:srgbClr val="6A7782"/>
              </a:solidFill>
              <a:latin typeface="Segoe UI"/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10363200" y="6426200"/>
            <a:ext cx="1219200" cy="228600"/>
          </a:xfrm>
          <a:prstGeom prst="roundRect">
            <a:avLst>
              <a:gd name="adj" fmla="val 15000"/>
            </a:avLst>
          </a:prstGeom>
          <a:solidFill>
            <a:srgbClr val="F4F1EA"/>
          </a:solidFill>
          <a:ln w="12700" cap="flat" cmpd="sng" algn="ctr">
            <a:solidFill>
              <a:srgbClr val="B7C3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10363200" y="64389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smtClean="0">
                <a:solidFill>
                  <a:srgbClr val="77838E"/>
                </a:solidFill>
                <a:latin typeface="Segoe UI"/>
              </a:rPr>
              <a:t>QR / client slot</a:t>
            </a:r>
            <a:endParaRPr lang="ru-RU" sz="850">
              <a:solidFill>
                <a:srgbClr val="77838E"/>
              </a:solidFill>
              <a:latin typeface="Segoe UI"/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736600" y="2489200"/>
            <a:ext cx="3327400" cy="1244600"/>
          </a:xfrm>
          <a:prstGeom prst="roundRect">
            <a:avLst>
              <a:gd name="adj" fmla="val 10000"/>
            </a:avLst>
          </a:prstGeom>
          <a:solidFill>
            <a:srgbClr val="FBFCFD"/>
          </a:solidFill>
          <a:ln w="14605" cap="flat" cmpd="sng" algn="ctr">
            <a:solidFill>
              <a:srgbClr val="CCD5D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889000" y="2667000"/>
            <a:ext cx="127000" cy="127000"/>
          </a:xfrm>
          <a:prstGeom prst="rect">
            <a:avLst/>
          </a:prstGeom>
          <a:solidFill>
            <a:srgbClr val="2E7D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1092200" y="2603500"/>
            <a:ext cx="281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 b="1" smtClean="0">
                <a:solidFill>
                  <a:srgbClr val="17324D"/>
                </a:solidFill>
                <a:latin typeface="Segoe UI"/>
              </a:rPr>
              <a:t>Uzly</a:t>
            </a:r>
            <a:endParaRPr lang="ru-RU" sz="13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2200" y="2895600"/>
            <a:ext cx="281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20" smtClean="0">
                <a:solidFill>
                  <a:srgbClr val="465769"/>
                </a:solidFill>
                <a:latin typeface="Segoe UI"/>
              </a:rPr>
              <a:t>Kritichnye soedineniya ne vyzyvayut somneniy i ne sobrany 'vremenno'.</a:t>
            </a:r>
            <a:endParaRPr lang="ru-RU" sz="1120">
              <a:solidFill>
                <a:srgbClr val="465769"/>
              </a:solidFill>
              <a:latin typeface="Segoe UI"/>
            </a:endParaRPr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4445000" y="2489200"/>
            <a:ext cx="3327400" cy="1244600"/>
          </a:xfrm>
          <a:prstGeom prst="roundRect">
            <a:avLst>
              <a:gd name="adj" fmla="val 10000"/>
            </a:avLst>
          </a:prstGeom>
          <a:solidFill>
            <a:srgbClr val="FBFCFD"/>
          </a:solidFill>
          <a:ln w="14605" cap="flat" cmpd="sng" algn="ctr">
            <a:solidFill>
              <a:srgbClr val="CCD5D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4597400" y="2667000"/>
            <a:ext cx="127000" cy="127000"/>
          </a:xfrm>
          <a:prstGeom prst="rect">
            <a:avLst/>
          </a:prstGeom>
          <a:solidFill>
            <a:srgbClr val="2E7D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/>
          <p:cNvSpPr txBox="1"/>
          <p:nvPr/>
        </p:nvSpPr>
        <p:spPr>
          <a:xfrm>
            <a:off x="4800600" y="2603500"/>
            <a:ext cx="281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 b="1" smtClean="0">
                <a:solidFill>
                  <a:srgbClr val="17324D"/>
                </a:solidFill>
                <a:latin typeface="Segoe UI"/>
              </a:rPr>
              <a:t>Nastily</a:t>
            </a:r>
            <a:endParaRPr lang="ru-RU" sz="13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00600" y="2895600"/>
            <a:ext cx="281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20" smtClean="0">
                <a:solidFill>
                  <a:srgbClr val="465769"/>
                </a:solidFill>
                <a:latin typeface="Segoe UI"/>
              </a:rPr>
              <a:t>Rabochaya poverkhnost sobrana polno i chitaetsya kak bezopasnaya zona.</a:t>
            </a:r>
            <a:endParaRPr lang="ru-RU" sz="1120">
              <a:solidFill>
                <a:srgbClr val="465769"/>
              </a:solidFill>
              <a:latin typeface="Segoe UI"/>
            </a:endParaRPr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8153400" y="2489200"/>
            <a:ext cx="3327400" cy="1244600"/>
          </a:xfrm>
          <a:prstGeom prst="roundRect">
            <a:avLst>
              <a:gd name="adj" fmla="val 10000"/>
            </a:avLst>
          </a:prstGeom>
          <a:solidFill>
            <a:srgbClr val="FBFCFD"/>
          </a:solidFill>
          <a:ln w="14605" cap="flat" cmpd="sng" algn="ctr">
            <a:solidFill>
              <a:srgbClr val="CCD5D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8305800" y="2667000"/>
            <a:ext cx="127000" cy="127000"/>
          </a:xfrm>
          <a:prstGeom prst="rect">
            <a:avLst/>
          </a:prstGeom>
          <a:solidFill>
            <a:srgbClr val="2E7D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/>
          <p:cNvSpPr txBox="1"/>
          <p:nvPr/>
        </p:nvSpPr>
        <p:spPr>
          <a:xfrm>
            <a:off x="8509000" y="2603500"/>
            <a:ext cx="281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 b="1" smtClean="0">
                <a:solidFill>
                  <a:srgbClr val="17324D"/>
                </a:solidFill>
                <a:latin typeface="Segoe UI"/>
              </a:rPr>
              <a:t>Ograzhdeniya</a:t>
            </a:r>
            <a:endParaRPr lang="ru-RU" sz="13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509000" y="2895600"/>
            <a:ext cx="281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20" smtClean="0">
                <a:solidFill>
                  <a:srgbClr val="465769"/>
                </a:solidFill>
                <a:latin typeface="Segoe UI"/>
              </a:rPr>
              <a:t>Zashchita ustanovlena tam, gde bez nee rabota stanet riskovannoy.</a:t>
            </a:r>
            <a:endParaRPr lang="ru-RU" sz="1120">
              <a:solidFill>
                <a:srgbClr val="465769"/>
              </a:solidFill>
              <a:latin typeface="Segoe UI"/>
            </a:endParaRPr>
          </a:p>
        </p:txBody>
      </p:sp>
      <p:sp>
        <p:nvSpPr>
          <p:cNvPr id="24" name="Скругленный прямоугольник 23"/>
          <p:cNvSpPr/>
          <p:nvPr/>
        </p:nvSpPr>
        <p:spPr>
          <a:xfrm>
            <a:off x="2590800" y="3962400"/>
            <a:ext cx="3327400" cy="1244600"/>
          </a:xfrm>
          <a:prstGeom prst="roundRect">
            <a:avLst>
              <a:gd name="adj" fmla="val 10000"/>
            </a:avLst>
          </a:prstGeom>
          <a:solidFill>
            <a:srgbClr val="FBFCFD"/>
          </a:solidFill>
          <a:ln w="14605" cap="flat" cmpd="sng" algn="ctr">
            <a:solidFill>
              <a:srgbClr val="CCD5D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2743200" y="4140200"/>
            <a:ext cx="127000" cy="127000"/>
          </a:xfrm>
          <a:prstGeom prst="rect">
            <a:avLst/>
          </a:prstGeom>
          <a:solidFill>
            <a:srgbClr val="2E7D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/>
          <p:cNvSpPr txBox="1"/>
          <p:nvPr/>
        </p:nvSpPr>
        <p:spPr>
          <a:xfrm>
            <a:off x="2946400" y="4076700"/>
            <a:ext cx="281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 b="1" smtClean="0">
                <a:solidFill>
                  <a:srgbClr val="17324D"/>
                </a:solidFill>
                <a:latin typeface="Segoe UI"/>
              </a:rPr>
              <a:t>Dostup</a:t>
            </a:r>
            <a:endParaRPr lang="ru-RU" sz="13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946400" y="4368800"/>
            <a:ext cx="281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20" smtClean="0">
                <a:solidFill>
                  <a:srgbClr val="465769"/>
                </a:solidFill>
                <a:latin typeface="Segoe UI"/>
              </a:rPr>
              <a:t>Podyom i peremeshchenie organizovany bez opasnoy improvizatsii.</a:t>
            </a:r>
            <a:endParaRPr lang="ru-RU" sz="1120">
              <a:solidFill>
                <a:srgbClr val="465769"/>
              </a:solidFill>
              <a:latin typeface="Segoe UI"/>
            </a:endParaRPr>
          </a:p>
        </p:txBody>
      </p:sp>
      <p:sp>
        <p:nvSpPr>
          <p:cNvPr id="28" name="Скругленный прямоугольник 27"/>
          <p:cNvSpPr/>
          <p:nvPr/>
        </p:nvSpPr>
        <p:spPr>
          <a:xfrm>
            <a:off x="6299200" y="3962400"/>
            <a:ext cx="3327400" cy="1244600"/>
          </a:xfrm>
          <a:prstGeom prst="roundRect">
            <a:avLst>
              <a:gd name="adj" fmla="val 10000"/>
            </a:avLst>
          </a:prstGeom>
          <a:solidFill>
            <a:srgbClr val="FBFCFD"/>
          </a:solidFill>
          <a:ln w="14605" cap="flat" cmpd="sng" algn="ctr">
            <a:solidFill>
              <a:srgbClr val="CCD5D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/>
          <p:cNvSpPr/>
          <p:nvPr/>
        </p:nvSpPr>
        <p:spPr>
          <a:xfrm>
            <a:off x="6451600" y="4140200"/>
            <a:ext cx="127000" cy="127000"/>
          </a:xfrm>
          <a:prstGeom prst="rect">
            <a:avLst/>
          </a:prstGeom>
          <a:solidFill>
            <a:srgbClr val="2E7D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/>
          <p:cNvSpPr txBox="1"/>
          <p:nvPr/>
        </p:nvSpPr>
        <p:spPr>
          <a:xfrm>
            <a:off x="6654800" y="4076700"/>
            <a:ext cx="281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 b="1" smtClean="0">
                <a:solidFill>
                  <a:srgbClr val="17324D"/>
                </a:solidFill>
                <a:latin typeface="Segoe UI"/>
              </a:rPr>
              <a:t>Obshchee sostoyanie</a:t>
            </a:r>
            <a:endParaRPr lang="ru-RU" sz="13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654800" y="4368800"/>
            <a:ext cx="281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20" smtClean="0">
                <a:solidFill>
                  <a:srgbClr val="465769"/>
                </a:solidFill>
                <a:latin typeface="Segoe UI"/>
              </a:rPr>
              <a:t>Net priznakov, chto konstruktsiyu pytayutsya pustit v rabotu 'na avos'.</a:t>
            </a:r>
            <a:endParaRPr lang="ru-RU" sz="1120">
              <a:solidFill>
                <a:srgbClr val="465769"/>
              </a:solidFill>
              <a:latin typeface="Segoe UI"/>
            </a:endParaRPr>
          </a:p>
        </p:txBody>
      </p:sp>
      <p:sp>
        <p:nvSpPr>
          <p:cNvPr id="32" name="Скругленный прямоугольник 31"/>
          <p:cNvSpPr/>
          <p:nvPr/>
        </p:nvSpPr>
        <p:spPr>
          <a:xfrm>
            <a:off x="4572000" y="5435600"/>
            <a:ext cx="3048000" cy="304800"/>
          </a:xfrm>
          <a:prstGeom prst="roundRect">
            <a:avLst>
              <a:gd name="adj" fmla="val 18000"/>
            </a:avLst>
          </a:prstGeom>
          <a:solidFill>
            <a:srgbClr val="2F5D7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/>
          <p:cNvSpPr txBox="1"/>
          <p:nvPr/>
        </p:nvSpPr>
        <p:spPr>
          <a:xfrm>
            <a:off x="4572000" y="54610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 smtClean="0">
                <a:solidFill>
                  <a:srgbClr val="FFFFFF"/>
                </a:solidFill>
                <a:latin typeface="Segoe UI"/>
              </a:rPr>
              <a:t>Cheklist prigoden i dlya A3 / A5</a:t>
            </a:r>
            <a:endParaRPr lang="ru-RU" sz="1000" b="1">
              <a:solidFill>
                <a:srgbClr val="FFFFFF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47474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F293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609600" y="431800"/>
            <a:ext cx="1041400" cy="330200"/>
          </a:xfrm>
          <a:prstGeom prst="roundRect">
            <a:avLst>
              <a:gd name="adj" fmla="val 22000"/>
            </a:avLst>
          </a:prstGeom>
          <a:solidFill>
            <a:srgbClr val="2F5D7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50" b="1" smtClean="0">
                <a:solidFill>
                  <a:srgbClr val="FFFFFF"/>
                </a:solidFill>
                <a:latin typeface="Segoe UI"/>
              </a:rPr>
              <a:t>ML-43</a:t>
            </a:r>
            <a:endParaRPr lang="ru-RU" sz="105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0" y="3810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nn-NO" sz="1150" b="1" smtClean="0">
                <a:solidFill>
                  <a:srgbClr val="5E6C78"/>
                </a:solidFill>
                <a:latin typeface="Segoe UI"/>
              </a:rPr>
              <a:t>07. Proverka pered ekspluatatsiey i pravila raboty na lesakh</a:t>
            </a:r>
            <a:endParaRPr lang="ru-RU" sz="1150" b="1">
              <a:solidFill>
                <a:srgbClr val="5E6C78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8636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500" b="1" smtClean="0">
                <a:solidFill>
                  <a:srgbClr val="17324D"/>
                </a:solidFill>
                <a:latin typeface="Segoe UI"/>
              </a:rPr>
              <a:t>Ekspluatatsiya bez proverki i distsipliny bystro stanovitsya opasnoy</a:t>
            </a:r>
            <a:endParaRPr lang="ru-RU" sz="25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14732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 smtClean="0">
                <a:solidFill>
                  <a:srgbClr val="445465"/>
                </a:solidFill>
                <a:latin typeface="Segoe UI"/>
              </a:rPr>
              <a:t>Posle sborki nachinaetsya ne svobodnyy rezhim, a upravlyaemyy algoritm: proverka, dopusk, rezhim raboty i stop pri riskakh.</a:t>
            </a:r>
            <a:endParaRPr lang="ru-RU" sz="1300">
              <a:solidFill>
                <a:srgbClr val="445465"/>
              </a:solidFill>
              <a:latin typeface="Segoe UI"/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2700">
            <a:solidFill>
              <a:srgbClr val="C7D0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9600" y="6426200"/>
            <a:ext cx="609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50" smtClean="0">
                <a:solidFill>
                  <a:srgbClr val="6A7782"/>
                </a:solidFill>
                <a:latin typeface="Segoe UI"/>
              </a:rPr>
              <a:t>Montazhnik lesov | Batch 1 visual build draft</a:t>
            </a:r>
            <a:endParaRPr lang="ru-RU" sz="950">
              <a:solidFill>
                <a:srgbClr val="6A7782"/>
              </a:solidFill>
              <a:latin typeface="Segoe UI"/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10363200" y="6426200"/>
            <a:ext cx="1219200" cy="228600"/>
          </a:xfrm>
          <a:prstGeom prst="roundRect">
            <a:avLst>
              <a:gd name="adj" fmla="val 15000"/>
            </a:avLst>
          </a:prstGeom>
          <a:solidFill>
            <a:srgbClr val="F4F1EA"/>
          </a:solidFill>
          <a:ln w="12700" cap="flat" cmpd="sng" algn="ctr">
            <a:solidFill>
              <a:srgbClr val="B7C3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10363200" y="64389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smtClean="0">
                <a:solidFill>
                  <a:srgbClr val="77838E"/>
                </a:solidFill>
                <a:latin typeface="Segoe UI"/>
              </a:rPr>
              <a:t>QR / client slot</a:t>
            </a:r>
            <a:endParaRPr lang="ru-RU" sz="850">
              <a:solidFill>
                <a:srgbClr val="77838E"/>
              </a:solidFill>
              <a:latin typeface="Segoe UI"/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60400" y="2514600"/>
            <a:ext cx="2286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7780" cap="flat" cmpd="sng" algn="ctr">
            <a:solidFill>
              <a:srgbClr val="BAC6C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787400" y="26162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 b="1" smtClean="0">
                <a:solidFill>
                  <a:srgbClr val="17324D"/>
                </a:solidFill>
                <a:latin typeface="Segoe UI"/>
              </a:rPr>
              <a:t>Proverka</a:t>
            </a:r>
            <a:endParaRPr lang="ru-RU" sz="16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7400" y="29718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50" smtClean="0">
                <a:solidFill>
                  <a:srgbClr val="425466"/>
                </a:solidFill>
                <a:latin typeface="Segoe UI"/>
              </a:rPr>
              <a:t>Podtverzhdaem gotovnost konstruktsii do nachala rabot.</a:t>
            </a:r>
            <a:endParaRPr lang="ru-RU" sz="1150">
              <a:solidFill>
                <a:srgbClr val="425466"/>
              </a:solidFill>
              <a:latin typeface="Segoe UI"/>
            </a:endParaRPr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2971800" y="3467100"/>
            <a:ext cx="304800" cy="0"/>
          </a:xfrm>
          <a:prstGeom prst="line">
            <a:avLst/>
          </a:prstGeom>
          <a:ln w="24130">
            <a:solidFill>
              <a:srgbClr val="7E8E9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Скругленный прямоугольник 15"/>
          <p:cNvSpPr/>
          <p:nvPr/>
        </p:nvSpPr>
        <p:spPr>
          <a:xfrm>
            <a:off x="3378200" y="2514600"/>
            <a:ext cx="2286000" cy="1905000"/>
          </a:xfrm>
          <a:prstGeom prst="roundRect">
            <a:avLst>
              <a:gd name="adj" fmla="val 15000"/>
            </a:avLst>
          </a:prstGeom>
          <a:solidFill>
            <a:srgbClr val="F4FBF7"/>
          </a:solidFill>
          <a:ln w="17780" cap="flat" cmpd="sng" algn="ctr">
            <a:solidFill>
              <a:srgbClr val="98C7A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3505200" y="26162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 b="1" smtClean="0">
                <a:solidFill>
                  <a:srgbClr val="17324D"/>
                </a:solidFill>
                <a:latin typeface="Segoe UI"/>
              </a:rPr>
              <a:t>Dopusk</a:t>
            </a:r>
            <a:endParaRPr lang="ru-RU" sz="16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05200" y="29718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l-PL" sz="1150" smtClean="0">
                <a:solidFill>
                  <a:srgbClr val="425466"/>
                </a:solidFill>
                <a:latin typeface="Segoe UI"/>
              </a:rPr>
              <a:t>Razreshenie na rabotu daetsya tolko posle cheklista.</a:t>
            </a:r>
            <a:endParaRPr lang="ru-RU" sz="1150">
              <a:solidFill>
                <a:srgbClr val="425466"/>
              </a:solidFill>
              <a:latin typeface="Segoe UI"/>
            </a:endParaRPr>
          </a:p>
        </p:txBody>
      </p:sp>
      <p:cxnSp>
        <p:nvCxnSpPr>
          <p:cNvPr id="19" name="Прямая соединительная линия 18"/>
          <p:cNvCxnSpPr/>
          <p:nvPr/>
        </p:nvCxnSpPr>
        <p:spPr>
          <a:xfrm>
            <a:off x="5689600" y="3467100"/>
            <a:ext cx="304800" cy="0"/>
          </a:xfrm>
          <a:prstGeom prst="line">
            <a:avLst/>
          </a:prstGeom>
          <a:ln w="24130">
            <a:solidFill>
              <a:srgbClr val="7E8E9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Скругленный прямоугольник 19"/>
          <p:cNvSpPr/>
          <p:nvPr/>
        </p:nvSpPr>
        <p:spPr>
          <a:xfrm>
            <a:off x="6096000" y="2514600"/>
            <a:ext cx="2286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7780" cap="flat" cmpd="sng" algn="ctr">
            <a:solidFill>
              <a:srgbClr val="BAC6C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/>
          <p:cNvSpPr txBox="1"/>
          <p:nvPr/>
        </p:nvSpPr>
        <p:spPr>
          <a:xfrm>
            <a:off x="6223000" y="26162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 b="1" smtClean="0">
                <a:solidFill>
                  <a:srgbClr val="17324D"/>
                </a:solidFill>
                <a:latin typeface="Segoe UI"/>
              </a:rPr>
              <a:t>Rezhim raboty</a:t>
            </a:r>
            <a:endParaRPr lang="ru-RU" sz="16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23000" y="29718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l-PL" sz="1150" smtClean="0">
                <a:solidFill>
                  <a:srgbClr val="425466"/>
                </a:solidFill>
                <a:latin typeface="Segoe UI"/>
              </a:rPr>
              <a:t>Nagruzku, marshruty i poryadok derzhim pod kontrolem.</a:t>
            </a:r>
            <a:endParaRPr lang="ru-RU" sz="1150">
              <a:solidFill>
                <a:srgbClr val="425466"/>
              </a:solidFill>
              <a:latin typeface="Segoe UI"/>
            </a:endParaRPr>
          </a:p>
        </p:txBody>
      </p:sp>
      <p:cxnSp>
        <p:nvCxnSpPr>
          <p:cNvPr id="23" name="Прямая соединительная линия 22"/>
          <p:cNvCxnSpPr/>
          <p:nvPr/>
        </p:nvCxnSpPr>
        <p:spPr>
          <a:xfrm>
            <a:off x="8407400" y="3467100"/>
            <a:ext cx="304800" cy="0"/>
          </a:xfrm>
          <a:prstGeom prst="line">
            <a:avLst/>
          </a:prstGeom>
          <a:ln w="24130">
            <a:solidFill>
              <a:srgbClr val="7E8E9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Скругленный прямоугольник 23"/>
          <p:cNvSpPr/>
          <p:nvPr/>
        </p:nvSpPr>
        <p:spPr>
          <a:xfrm>
            <a:off x="8813800" y="2514600"/>
            <a:ext cx="2286000" cy="1905000"/>
          </a:xfrm>
          <a:prstGeom prst="roundRect">
            <a:avLst>
              <a:gd name="adj" fmla="val 15000"/>
            </a:avLst>
          </a:prstGeom>
          <a:solidFill>
            <a:srgbClr val="FFF3F0"/>
          </a:solidFill>
          <a:ln w="17780" cap="flat" cmpd="sng" algn="ctr">
            <a:solidFill>
              <a:srgbClr val="D48A8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/>
          <p:cNvSpPr txBox="1"/>
          <p:nvPr/>
        </p:nvSpPr>
        <p:spPr>
          <a:xfrm>
            <a:off x="8940800" y="26162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 b="1" smtClean="0">
                <a:solidFill>
                  <a:srgbClr val="17324D"/>
                </a:solidFill>
                <a:latin typeface="Segoe UI"/>
              </a:rPr>
              <a:t>Stop pri riskakh</a:t>
            </a:r>
            <a:endParaRPr lang="ru-RU" sz="16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940800" y="29718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50" smtClean="0">
                <a:solidFill>
                  <a:srgbClr val="425466"/>
                </a:solidFill>
                <a:latin typeface="Segoe UI"/>
              </a:rPr>
              <a:t>Lyuboy krasnyy flag perevodit rabotu v ostanovku i ustranenie.</a:t>
            </a:r>
            <a:endParaRPr lang="ru-RU" sz="1150">
              <a:solidFill>
                <a:srgbClr val="425466"/>
              </a:solidFill>
              <a:latin typeface="Segoe UI"/>
            </a:endParaRPr>
          </a:p>
        </p:txBody>
      </p:sp>
      <p:sp>
        <p:nvSpPr>
          <p:cNvPr id="27" name="Скругленный прямоугольник 26"/>
          <p:cNvSpPr/>
          <p:nvPr/>
        </p:nvSpPr>
        <p:spPr>
          <a:xfrm>
            <a:off x="8813800" y="4648200"/>
            <a:ext cx="2616200" cy="304800"/>
          </a:xfrm>
          <a:prstGeom prst="roundRect">
            <a:avLst>
              <a:gd name="adj" fmla="val 18000"/>
            </a:avLst>
          </a:prstGeom>
          <a:solidFill>
            <a:srgbClr val="A63D4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/>
          <p:cNvSpPr txBox="1"/>
          <p:nvPr/>
        </p:nvSpPr>
        <p:spPr>
          <a:xfrm>
            <a:off x="8813800" y="4673600"/>
            <a:ext cx="2616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 smtClean="0">
                <a:solidFill>
                  <a:srgbClr val="FFFFFF"/>
                </a:solidFill>
                <a:latin typeface="Segoe UI"/>
              </a:rPr>
              <a:t>Stop-signal vazhnee srokov</a:t>
            </a:r>
            <a:endParaRPr lang="ru-RU" sz="1000" b="1">
              <a:solidFill>
                <a:srgbClr val="FFFFFF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4907101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673</Words>
  <Application>Microsoft Office PowerPoint</Application>
  <PresentationFormat>Произвольный</PresentationFormat>
  <Paragraphs>115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Дмитрий</dc:creator>
  <cp:lastModifiedBy>Дмитрий</cp:lastModifiedBy>
  <cp:revision>1</cp:revision>
  <dcterms:created xsi:type="dcterms:W3CDTF">2026-05-14T20:49:01Z</dcterms:created>
  <dcterms:modified xsi:type="dcterms:W3CDTF">2026-05-14T20:49:14Z</dcterms:modified>
</cp:coreProperties>
</file>