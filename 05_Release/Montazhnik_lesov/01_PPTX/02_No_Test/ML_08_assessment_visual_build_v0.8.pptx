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44" y="-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1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09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306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128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2296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9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70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0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36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2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0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80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1785600" y="274639"/>
            <a:ext cx="36576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12800" y="274639"/>
            <a:ext cx="107696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24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5D603-D753-47B0-9E08-F3376CBC5A33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DFA2F-5FB7-4A39-9C32-67882BA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16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 smtClean="0">
                <a:solidFill>
                  <a:srgbClr val="FFFFFF"/>
                </a:solidFill>
                <a:latin typeface="Segoe UI"/>
              </a:rPr>
              <a:t>A-44 / TV-01</a:t>
            </a:r>
            <a:endParaRPr lang="ru-RU" sz="1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5E6C78"/>
                </a:solidFill>
                <a:latin typeface="Segoe UI"/>
              </a:rPr>
              <a:t>Assessment recognition board</a:t>
            </a:r>
            <a:endParaRPr lang="ru-RU" sz="140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 smtClean="0">
                <a:solidFill>
                  <a:srgbClr val="17324D"/>
                </a:solidFill>
                <a:latin typeface="Segoe UI"/>
              </a:rPr>
              <a:t>Ishchi ploshchadku po nastilu.</a:t>
            </a:r>
            <a:endParaRPr lang="ru-RU" sz="2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232932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dirty="0" err="1" smtClean="0">
                <a:solidFill>
                  <a:srgbClr val="445465"/>
                </a:solidFill>
                <a:latin typeface="Segoe UI"/>
              </a:rPr>
              <a:t>Nastil</a:t>
            </a:r>
            <a:r>
              <a:rPr lang="en-US" dirty="0" smtClean="0">
                <a:solidFill>
                  <a:srgbClr val="445465"/>
                </a:solidFill>
                <a:latin typeface="Segoe UI"/>
              </a:rPr>
              <a:t> = </a:t>
            </a:r>
            <a:r>
              <a:rPr lang="en-US" dirty="0" err="1" smtClean="0">
                <a:solidFill>
                  <a:srgbClr val="445465"/>
                </a:solidFill>
                <a:latin typeface="Segoe UI"/>
              </a:rPr>
              <a:t>rabota</a:t>
            </a:r>
            <a:r>
              <a:rPr lang="en-US" dirty="0" smtClean="0">
                <a:solidFill>
                  <a:srgbClr val="445465"/>
                </a:solidFill>
                <a:latin typeface="Segoe UI"/>
              </a:rPr>
              <a:t>. </a:t>
            </a:r>
            <a:r>
              <a:rPr lang="en-US" dirty="0" err="1" smtClean="0">
                <a:solidFill>
                  <a:srgbClr val="445465"/>
                </a:solidFill>
                <a:latin typeface="Segoe UI"/>
              </a:rPr>
              <a:t>Rigel</a:t>
            </a:r>
            <a:r>
              <a:rPr lang="en-US" dirty="0" smtClean="0">
                <a:solidFill>
                  <a:srgbClr val="445465"/>
                </a:solidFill>
                <a:latin typeface="Segoe UI"/>
              </a:rPr>
              <a:t> = </a:t>
            </a:r>
            <a:r>
              <a:rPr lang="en-US" dirty="0" err="1" smtClean="0">
                <a:solidFill>
                  <a:srgbClr val="445465"/>
                </a:solidFill>
                <a:latin typeface="Segoe UI"/>
              </a:rPr>
              <a:t>zhestkost</a:t>
            </a:r>
            <a:r>
              <a:rPr lang="en-US" dirty="0" smtClean="0">
                <a:solidFill>
                  <a:srgbClr val="445465"/>
                </a:solidFill>
                <a:latin typeface="Segoe UI"/>
              </a:rPr>
              <a:t>. </a:t>
            </a:r>
            <a:r>
              <a:rPr lang="en-US" dirty="0" err="1" smtClean="0">
                <a:solidFill>
                  <a:srgbClr val="445465"/>
                </a:solidFill>
                <a:latin typeface="Segoe UI"/>
              </a:rPr>
              <a:t>Uzel</a:t>
            </a:r>
            <a:r>
              <a:rPr lang="en-US" dirty="0" smtClean="0">
                <a:solidFill>
                  <a:srgbClr val="445465"/>
                </a:solidFill>
                <a:latin typeface="Segoe UI"/>
              </a:rPr>
              <a:t> = </a:t>
            </a:r>
            <a:r>
              <a:rPr lang="en-US" dirty="0" err="1" smtClean="0">
                <a:solidFill>
                  <a:srgbClr val="445465"/>
                </a:solidFill>
                <a:latin typeface="Segoe UI"/>
              </a:rPr>
              <a:t>fiksatsiya</a:t>
            </a:r>
            <a:r>
              <a:rPr lang="en-US" dirty="0" smtClean="0">
                <a:solidFill>
                  <a:srgbClr val="445465"/>
                </a:solidFill>
                <a:latin typeface="Segoe UI"/>
              </a:rPr>
              <a:t>.</a:t>
            </a:r>
            <a:endParaRPr lang="ru-RU" dirty="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87279" y="1602264"/>
            <a:ext cx="7112000" cy="431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04391" y="1602264"/>
            <a:ext cx="71120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dirty="0" smtClean="0">
                <a:solidFill>
                  <a:srgbClr val="FFFFFF"/>
                </a:solidFill>
                <a:latin typeface="Segoe UI"/>
              </a:rPr>
              <a:t>Q-07: </a:t>
            </a:r>
            <a:r>
              <a:rPr lang="en-US" sz="2000" b="1" dirty="0" err="1" smtClean="0">
                <a:solidFill>
                  <a:srgbClr val="FFFFFF"/>
                </a:solidFill>
                <a:latin typeface="Segoe UI"/>
              </a:rPr>
              <a:t>chto</a:t>
            </a:r>
            <a:r>
              <a:rPr lang="en-US" sz="2000" b="1" dirty="0" smtClean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Segoe UI"/>
              </a:rPr>
              <a:t>dayot</a:t>
            </a:r>
            <a:r>
              <a:rPr lang="en-US" sz="2000" b="1" dirty="0" smtClean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Segoe UI"/>
              </a:rPr>
              <a:t>ploshchadku</a:t>
            </a:r>
            <a:r>
              <a:rPr lang="en-US" sz="2000" b="1" dirty="0" smtClean="0">
                <a:solidFill>
                  <a:srgbClr val="FFFFFF"/>
                </a:solidFill>
                <a:latin typeface="Segoe UI"/>
              </a:rPr>
              <a:t>?</a:t>
            </a:r>
            <a:endParaRPr lang="ru-RU" sz="2000" b="1" dirty="0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4262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77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140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296400" y="6400800"/>
            <a:ext cx="2286000" cy="3048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296400" y="6438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140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85800" y="2463800"/>
            <a:ext cx="3352800" cy="3530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C7D0D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" y="2667000"/>
            <a:ext cx="2921000" cy="1930400"/>
          </a:xfrm>
          <a:prstGeom prst="rect">
            <a:avLst/>
          </a:prstGeom>
          <a:ln w="9525" cap="flat" cmpd="sng" algn="ctr">
            <a:solidFill>
              <a:srgbClr val="D4DCE3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" name="Прямоугольник 15"/>
          <p:cNvSpPr/>
          <p:nvPr/>
        </p:nvSpPr>
        <p:spPr>
          <a:xfrm>
            <a:off x="901700" y="4648200"/>
            <a:ext cx="2921000" cy="76200"/>
          </a:xfrm>
          <a:prstGeom prst="rect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901700" y="4826000"/>
            <a:ext cx="2921000" cy="685800"/>
          </a:xfrm>
          <a:prstGeom prst="roundRect">
            <a:avLst>
              <a:gd name="adj" fmla="val 16000"/>
            </a:avLst>
          </a:prstGeom>
          <a:solidFill>
            <a:srgbClr val="53586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53586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1041400" y="51054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1244600" y="4953000"/>
            <a:ext cx="238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 dirty="0" err="1" smtClean="0">
                <a:solidFill>
                  <a:srgbClr val="FFFFFF"/>
                </a:solidFill>
                <a:latin typeface="Segoe UI"/>
              </a:rPr>
              <a:t>Nastil</a:t>
            </a:r>
            <a:r>
              <a:rPr lang="en-US" sz="2000" b="1" dirty="0" smtClean="0">
                <a:solidFill>
                  <a:srgbClr val="FFFFFF"/>
                </a:solidFill>
                <a:latin typeface="Segoe UI"/>
              </a:rPr>
              <a:t> / </a:t>
            </a:r>
            <a:r>
              <a:rPr lang="en-US" sz="2000" b="1" dirty="0" err="1" smtClean="0">
                <a:solidFill>
                  <a:srgbClr val="FFFFFF"/>
                </a:solidFill>
                <a:latin typeface="Segoe UI"/>
              </a:rPr>
              <a:t>ploshchadka</a:t>
            </a:r>
            <a:endParaRPr lang="ru-RU" sz="2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1700" y="55626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dirty="0" smtClean="0">
                <a:solidFill>
                  <a:srgbClr val="465564"/>
                </a:solidFill>
                <a:latin typeface="Segoe UI"/>
              </a:rPr>
              <a:t>Na</a:t>
            </a:r>
            <a:r>
              <a:rPr lang="pl-PL" sz="1400" dirty="0" smtClean="0">
                <a:solidFill>
                  <a:srgbClr val="465564"/>
                </a:solidFill>
                <a:latin typeface="Segoe UI"/>
              </a:rPr>
              <a:t> </a:t>
            </a:r>
            <a:r>
              <a:rPr lang="pl-PL" sz="1400" dirty="0" smtClean="0">
                <a:solidFill>
                  <a:srgbClr val="465564"/>
                </a:solidFill>
                <a:latin typeface="Segoe UI"/>
              </a:rPr>
              <a:t>nemu stoyat i rabotayut.</a:t>
            </a:r>
            <a:endParaRPr lang="ru-RU" sz="1400" dirty="0">
              <a:solidFill>
                <a:srgbClr val="465564"/>
              </a:solidFill>
              <a:latin typeface="Segoe UI"/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4419600" y="2463800"/>
            <a:ext cx="3352800" cy="3530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C7D0D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2667000"/>
            <a:ext cx="2921000" cy="1930400"/>
          </a:xfrm>
          <a:prstGeom prst="rect">
            <a:avLst/>
          </a:prstGeom>
          <a:ln w="9525" cap="flat" cmpd="sng" algn="ctr">
            <a:solidFill>
              <a:srgbClr val="D4DCE3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3" name="Прямоугольник 22"/>
          <p:cNvSpPr/>
          <p:nvPr/>
        </p:nvSpPr>
        <p:spPr>
          <a:xfrm>
            <a:off x="4635500" y="4648200"/>
            <a:ext cx="2921000" cy="76200"/>
          </a:xfrm>
          <a:prstGeom prst="rect">
            <a:avLst/>
          </a:prstGeom>
          <a:solidFill>
            <a:srgbClr val="D58B2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4635500" y="4826000"/>
            <a:ext cx="2921000" cy="685800"/>
          </a:xfrm>
          <a:prstGeom prst="roundRect">
            <a:avLst>
              <a:gd name="adj" fmla="val 16000"/>
            </a:avLst>
          </a:prstGeom>
          <a:solidFill>
            <a:srgbClr val="53586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53586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4775200" y="5105400"/>
            <a:ext cx="127000" cy="127000"/>
          </a:xfrm>
          <a:prstGeom prst="ellipse">
            <a:avLst/>
          </a:prstGeom>
          <a:solidFill>
            <a:srgbClr val="D58B2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4978400" y="4953000"/>
            <a:ext cx="238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 smtClean="0">
                <a:solidFill>
                  <a:srgbClr val="FFFFFF"/>
                </a:solidFill>
                <a:latin typeface="Segoe UI"/>
              </a:rPr>
              <a:t>Rigel / zhestkost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35500" y="55626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dirty="0" err="1" smtClean="0">
                <a:solidFill>
                  <a:srgbClr val="465564"/>
                </a:solidFill>
                <a:latin typeface="Segoe UI"/>
              </a:rPr>
              <a:t>Derzhit</a:t>
            </a:r>
            <a:r>
              <a:rPr lang="en-US" sz="1400" dirty="0" smtClean="0">
                <a:solidFill>
                  <a:srgbClr val="465564"/>
                </a:solidFill>
                <a:latin typeface="Segoe UI"/>
              </a:rPr>
              <a:t> </a:t>
            </a:r>
            <a:r>
              <a:rPr lang="en-US" sz="1400" dirty="0" err="1" smtClean="0">
                <a:solidFill>
                  <a:srgbClr val="465564"/>
                </a:solidFill>
                <a:latin typeface="Segoe UI"/>
              </a:rPr>
              <a:t>zhestkost</a:t>
            </a:r>
            <a:r>
              <a:rPr lang="en-US" sz="1400" dirty="0" smtClean="0">
                <a:solidFill>
                  <a:srgbClr val="465564"/>
                </a:solidFill>
                <a:latin typeface="Segoe UI"/>
              </a:rPr>
              <a:t>. </a:t>
            </a:r>
            <a:endParaRPr lang="ru-RU" sz="1400" dirty="0">
              <a:solidFill>
                <a:srgbClr val="465564"/>
              </a:solidFill>
              <a:latin typeface="Segoe UI"/>
            </a:endParaRPr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8153400" y="2463800"/>
            <a:ext cx="3352800" cy="3530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C7D0D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300" y="2667000"/>
            <a:ext cx="2921000" cy="1930400"/>
          </a:xfrm>
          <a:prstGeom prst="rect">
            <a:avLst/>
          </a:prstGeom>
          <a:ln w="9525" cap="flat" cmpd="sng" algn="ctr">
            <a:solidFill>
              <a:srgbClr val="D4DCE3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0" name="Прямоугольник 29"/>
          <p:cNvSpPr/>
          <p:nvPr/>
        </p:nvSpPr>
        <p:spPr>
          <a:xfrm>
            <a:off x="8369300" y="4648200"/>
            <a:ext cx="2921000" cy="76200"/>
          </a:xfrm>
          <a:prstGeom prst="rect">
            <a:avLst/>
          </a:prstGeom>
          <a:solidFill>
            <a:srgbClr val="8E4A7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8369300" y="4826000"/>
            <a:ext cx="2921000" cy="685800"/>
          </a:xfrm>
          <a:prstGeom prst="roundRect">
            <a:avLst>
              <a:gd name="adj" fmla="val 16000"/>
            </a:avLst>
          </a:prstGeom>
          <a:solidFill>
            <a:srgbClr val="53586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53586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8509000" y="5105400"/>
            <a:ext cx="127000" cy="127000"/>
          </a:xfrm>
          <a:prstGeom prst="ellipse">
            <a:avLst/>
          </a:prstGeom>
          <a:solidFill>
            <a:srgbClr val="8E4A7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8712200" y="4953000"/>
            <a:ext cx="238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 smtClean="0">
                <a:solidFill>
                  <a:srgbClr val="FFFFFF"/>
                </a:solidFill>
                <a:latin typeface="Segoe UI"/>
              </a:rPr>
              <a:t>Klinovoy uzel / fiksatsiya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69300" y="55626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dirty="0" err="1" smtClean="0">
                <a:solidFill>
                  <a:srgbClr val="465564"/>
                </a:solidFill>
                <a:latin typeface="Segoe UI"/>
              </a:rPr>
              <a:t>Fiksiruet</a:t>
            </a:r>
            <a:r>
              <a:rPr lang="en-US" sz="1400" dirty="0" smtClean="0">
                <a:solidFill>
                  <a:srgbClr val="465564"/>
                </a:solidFill>
                <a:latin typeface="Segoe UI"/>
              </a:rPr>
              <a:t> </a:t>
            </a:r>
            <a:r>
              <a:rPr lang="ru-RU" sz="1400" dirty="0" smtClean="0">
                <a:solidFill>
                  <a:srgbClr val="465564"/>
                </a:solidFill>
                <a:latin typeface="Segoe UI"/>
              </a:rPr>
              <a:t>соединение</a:t>
            </a:r>
            <a:r>
              <a:rPr lang="en-US" sz="1400" dirty="0" smtClean="0">
                <a:solidFill>
                  <a:srgbClr val="465564"/>
                </a:solidFill>
                <a:latin typeface="Segoe UI"/>
              </a:rPr>
              <a:t>. </a:t>
            </a:r>
            <a:endParaRPr lang="ru-RU" sz="1400" dirty="0">
              <a:solidFill>
                <a:srgbClr val="465564"/>
              </a:solidFill>
              <a:latin typeface="Segoe UI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1854200" y="6070600"/>
            <a:ext cx="8483600" cy="4318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5875" cap="flat" cmpd="sng" algn="ctr">
            <a:solidFill>
              <a:srgbClr val="E4B07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2032000" y="6096000"/>
            <a:ext cx="1320800" cy="3810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2032000" y="6121400"/>
            <a:ext cx="13208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Q-07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56000" y="6172200"/>
            <a:ext cx="655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7A4A1A"/>
                </a:solidFill>
                <a:latin typeface="Segoe UI"/>
              </a:rPr>
              <a:t>Ne putay nastil, rigel i uzel.</a:t>
            </a:r>
            <a:endParaRPr lang="ru-RU" sz="1400" b="1">
              <a:solidFill>
                <a:srgbClr val="7A4A1A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7247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 smtClean="0">
                <a:solidFill>
                  <a:srgbClr val="FFFFFF"/>
                </a:solidFill>
                <a:latin typeface="Segoe UI"/>
              </a:rPr>
              <a:t>A-45 / TV-02</a:t>
            </a:r>
            <a:endParaRPr lang="ru-RU" sz="1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5E6C78"/>
                </a:solidFill>
                <a:latin typeface="Segoe UI"/>
              </a:rPr>
              <a:t>Assessment intake compare-card</a:t>
            </a:r>
            <a:endParaRPr lang="ru-RU" sz="140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2400" b="1" smtClean="0">
                <a:solidFill>
                  <a:srgbClr val="17324D"/>
                </a:solidFill>
                <a:latin typeface="Segoe UI"/>
              </a:rPr>
              <a:t>Prover elementy do sborki. Brak ne ispolzuy.</a:t>
            </a:r>
            <a:endParaRPr lang="ru-RU" sz="2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mtClean="0">
                <a:solidFill>
                  <a:srgbClr val="445465"/>
                </a:solidFill>
                <a:latin typeface="Segoe UI"/>
              </a:rPr>
              <a:t>Reshenie prostoe: v rabotu ili v brak.</a:t>
            </a:r>
            <a:endParaRPr lang="ru-RU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9600" y="1930400"/>
            <a:ext cx="7112000" cy="431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71120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pl-PL" sz="2000" b="1" smtClean="0">
                <a:solidFill>
                  <a:srgbClr val="FFFFFF"/>
                </a:solidFill>
                <a:latin typeface="Segoe UI"/>
              </a:rPr>
              <a:t>Do sborki: chto godno, chto v brak?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4262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77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140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296400" y="6400800"/>
            <a:ext cx="2286000" cy="3048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296400" y="6438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140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87400" y="2514600"/>
            <a:ext cx="4775200" cy="3479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990600" y="2692400"/>
            <a:ext cx="1676400" cy="431800"/>
          </a:xfrm>
          <a:prstGeom prst="roundRect">
            <a:avLst>
              <a:gd name="adj" fmla="val 18000"/>
            </a:avLst>
          </a:prstGeom>
          <a:solidFill>
            <a:srgbClr val="2E7D5B"/>
          </a:solidFill>
          <a:ln w="15875" cap="flat" cmpd="sng" algn="ctr">
            <a:solidFill>
              <a:srgbClr val="2E7D5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990600" y="2717800"/>
            <a:ext cx="16764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GOOD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0600" y="3225800"/>
            <a:ext cx="436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smtClean="0">
                <a:solidFill>
                  <a:srgbClr val="17324D"/>
                </a:solidFill>
                <a:latin typeface="Segoe UI"/>
              </a:rPr>
              <a:t>Godno v sborku</a:t>
            </a:r>
            <a:endParaRPr lang="ru-RU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016000" y="37973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1219200" y="37338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odin proizvoditel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1016000" y="42799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1219200" y="42164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400" smtClean="0">
                <a:solidFill>
                  <a:srgbClr val="445465"/>
                </a:solidFill>
                <a:latin typeface="Segoe UI"/>
              </a:rPr>
              <a:t>komplekt po PPR ili tekhkarte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1016000" y="47625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1219200" y="46990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400" smtClean="0">
                <a:solidFill>
                  <a:srgbClr val="445465"/>
                </a:solidFill>
                <a:latin typeface="Segoe UI"/>
              </a:rPr>
              <a:t>detali bez deformatsiy i treshchin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1016000" y="52451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1219200" y="51816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it-IT" sz="1400" smtClean="0">
                <a:solidFill>
                  <a:srgbClr val="445465"/>
                </a:solidFill>
                <a:latin typeface="Segoe UI"/>
              </a:rPr>
              <a:t>ne v naval, a rassortirovanno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0600" y="5461000"/>
            <a:ext cx="436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6A7782"/>
                </a:solidFill>
                <a:latin typeface="Segoe UI"/>
              </a:rPr>
              <a:t>Etalon proverki pered sborkoy</a:t>
            </a:r>
            <a:endParaRPr lang="ru-RU" sz="1400" b="1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6629400" y="2514600"/>
            <a:ext cx="4775200" cy="3479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6832600" y="2692400"/>
            <a:ext cx="1676400" cy="4318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6832600" y="2717800"/>
            <a:ext cx="16764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NO-GO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32600" y="3225800"/>
            <a:ext cx="436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smtClean="0">
                <a:solidFill>
                  <a:srgbClr val="17324D"/>
                </a:solidFill>
                <a:latin typeface="Segoe UI"/>
              </a:rPr>
              <a:t>Ne godno v sborku</a:t>
            </a:r>
            <a:endParaRPr lang="ru-RU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6858000" y="37973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7061200" y="37338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deformatsiya ili iskrivlenie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6858000" y="43307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7061200" y="42672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nekomplektnyy ili povrezhdennyy uzel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5" name="Овал 34"/>
          <p:cNvSpPr/>
          <p:nvPr/>
        </p:nvSpPr>
        <p:spPr>
          <a:xfrm>
            <a:off x="6858000" y="48641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7061200" y="48006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srazu vyvesti iz sborki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32600" y="5461000"/>
            <a:ext cx="436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400" b="1" smtClean="0">
                <a:solidFill>
                  <a:srgbClr val="6A7782"/>
                </a:solidFill>
                <a:latin typeface="Segoe UI"/>
              </a:rPr>
              <a:t>Ne 'pochti godno'. Srazu v brak.</a:t>
            </a:r>
            <a:endParaRPr lang="ru-RU" sz="1400" b="1">
              <a:solidFill>
                <a:srgbClr val="6A7782"/>
              </a:solidFill>
              <a:latin typeface="Segoe UI"/>
            </a:endParaRPr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>
            <a:off x="5765800" y="4216400"/>
            <a:ext cx="660400" cy="0"/>
          </a:xfrm>
          <a:prstGeom prst="line">
            <a:avLst/>
          </a:prstGeom>
          <a:ln w="3810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Скругленный прямоугольник 38"/>
          <p:cNvSpPr/>
          <p:nvPr/>
        </p:nvSpPr>
        <p:spPr>
          <a:xfrm>
            <a:off x="4749800" y="3962400"/>
            <a:ext cx="2057400" cy="431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4749800" y="3987800"/>
            <a:ext cx="20574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otbor do starta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1" name="Скругленный прямоугольник 40"/>
          <p:cNvSpPr/>
          <p:nvPr/>
        </p:nvSpPr>
        <p:spPr>
          <a:xfrm>
            <a:off x="2235200" y="6019800"/>
            <a:ext cx="7721600" cy="4318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5875" cap="flat" cmpd="sng" algn="ctr">
            <a:solidFill>
              <a:srgbClr val="E4B07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Скругленный прямоугольник 41"/>
          <p:cNvSpPr/>
          <p:nvPr/>
        </p:nvSpPr>
        <p:spPr>
          <a:xfrm>
            <a:off x="2413000" y="6045200"/>
            <a:ext cx="1320800" cy="3810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2413000" y="6070600"/>
            <a:ext cx="13208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Q-08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62400" y="6121400"/>
            <a:ext cx="5765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400" b="1" smtClean="0">
                <a:solidFill>
                  <a:srgbClr val="7A4A1A"/>
                </a:solidFill>
                <a:latin typeface="Segoe UI"/>
              </a:rPr>
              <a:t>Defekt ili nekomplektnost = srazu v brak.</a:t>
            </a:r>
            <a:endParaRPr lang="ru-RU" sz="1400" b="1">
              <a:solidFill>
                <a:srgbClr val="7A4A1A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142436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 smtClean="0">
                <a:solidFill>
                  <a:srgbClr val="FFFFFF"/>
                </a:solidFill>
                <a:latin typeface="Segoe UI"/>
              </a:rPr>
              <a:t>A-46 / TV-03</a:t>
            </a:r>
            <a:endParaRPr lang="ru-RU" sz="1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5E6C78"/>
                </a:solidFill>
                <a:latin typeface="Segoe UI"/>
              </a:rPr>
              <a:t>Assessment working tier compare-board</a:t>
            </a:r>
            <a:endParaRPr lang="ru-RU" sz="140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2400" b="1" smtClean="0">
                <a:solidFill>
                  <a:srgbClr val="17324D"/>
                </a:solidFill>
                <a:latin typeface="Segoe UI"/>
              </a:rPr>
              <a:t>Ярус готов только при полном настиле и безопасном доступе</a:t>
            </a:r>
            <a:endParaRPr lang="ru-RU" sz="2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mtClean="0">
                <a:solidFill>
                  <a:srgbClr val="445465"/>
                </a:solidFill>
                <a:latin typeface="Segoe UI"/>
              </a:rPr>
              <a:t>Signal prostoy: gotov ili stop.</a:t>
            </a:r>
            <a:endParaRPr lang="ru-RU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9600" y="1930400"/>
            <a:ext cx="7112000" cy="431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71120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Q-16: kakoy yarus ne gotov?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4262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77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140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296400" y="6400800"/>
            <a:ext cx="2286000" cy="3048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296400" y="6438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140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87400" y="2514600"/>
            <a:ext cx="4724400" cy="299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990600" y="2692400"/>
            <a:ext cx="1676400" cy="431800"/>
          </a:xfrm>
          <a:prstGeom prst="roundRect">
            <a:avLst>
              <a:gd name="adj" fmla="val 18000"/>
            </a:avLst>
          </a:prstGeom>
          <a:solidFill>
            <a:srgbClr val="2E7D5B"/>
          </a:solidFill>
          <a:ln w="15875" cap="flat" cmpd="sng" algn="ctr">
            <a:solidFill>
              <a:srgbClr val="2E7D5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990600" y="2717800"/>
            <a:ext cx="16764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ALLOWED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0600" y="3225800"/>
            <a:ext cx="431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smtClean="0">
                <a:solidFill>
                  <a:srgbClr val="17324D"/>
                </a:solidFill>
                <a:latin typeface="Segoe UI"/>
              </a:rPr>
              <a:t>Yarus gotov</a:t>
            </a:r>
            <a:endParaRPr lang="ru-RU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016000" y="37973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1219200" y="37338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polnyy nastil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1016000" y="42291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1219200" y="41656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bezopasnyy dostup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1016000" y="46609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1219200" y="45974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zashchitnyy kontur na meste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0600" y="4978400"/>
            <a:ext cx="431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6A7782"/>
                </a:solidFill>
                <a:latin typeface="Segoe UI"/>
              </a:rPr>
              <a:t>Potom mozhno rabotat</a:t>
            </a:r>
            <a:endParaRPr lang="ru-RU" sz="1400" b="1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6680200" y="2514600"/>
            <a:ext cx="4724400" cy="299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6883400" y="2692400"/>
            <a:ext cx="1676400" cy="4318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6883400" y="2717800"/>
            <a:ext cx="16764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BLOCKED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83400" y="3225800"/>
            <a:ext cx="431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smtClean="0">
                <a:solidFill>
                  <a:srgbClr val="17324D"/>
                </a:solidFill>
                <a:latin typeface="Segoe UI"/>
              </a:rPr>
              <a:t>Yarus ne gotov</a:t>
            </a:r>
            <a:endParaRPr lang="ru-RU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6908800" y="37973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7112000" y="37338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nepolnyy nastil ili razryv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6908800" y="42291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7112000" y="41656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net bezopasnogo dostupa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6908800" y="46609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7112000" y="45974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do ustraneniya rabotu ne nachinat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83400" y="4978400"/>
            <a:ext cx="431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6A7782"/>
                </a:solidFill>
                <a:latin typeface="Segoe UI"/>
              </a:rPr>
              <a:t>Odin priznak = stop</a:t>
            </a:r>
            <a:endParaRPr lang="ru-RU" sz="1400" b="1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4216400" y="5638800"/>
            <a:ext cx="3759200" cy="4318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4216400" y="5664200"/>
            <a:ext cx="37592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blocked signal = srazu stop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5334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 smtClean="0">
                <a:solidFill>
                  <a:srgbClr val="FFFFFF"/>
                </a:solidFill>
                <a:latin typeface="Segoe UI"/>
              </a:rPr>
              <a:t>A-47 / TV-04</a:t>
            </a:r>
            <a:endParaRPr lang="ru-RU" sz="1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5E6C78"/>
                </a:solidFill>
                <a:latin typeface="Segoe UI"/>
              </a:rPr>
              <a:t>Assessment hazard board</a:t>
            </a:r>
            <a:endParaRPr lang="ru-RU" sz="140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 smtClean="0">
                <a:solidFill>
                  <a:srgbClr val="17324D"/>
                </a:solidFill>
                <a:latin typeface="Segoe UI"/>
              </a:rPr>
              <a:t>Red flag = stop. Ne obsuzhday, a ostanovi.</a:t>
            </a:r>
            <a:endParaRPr lang="ru-RU" sz="2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mtClean="0">
                <a:solidFill>
                  <a:srgbClr val="445465"/>
                </a:solidFill>
                <a:latin typeface="Segoe UI"/>
              </a:rPr>
              <a:t>Na foto dolzhny schityvatsya vse opasnye oshibki.</a:t>
            </a:r>
            <a:endParaRPr lang="ru-RU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9600" y="1930400"/>
            <a:ext cx="7112000" cy="431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71120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Q-21: kakie oshibki trebuut stopa?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4262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77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140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296400" y="6400800"/>
            <a:ext cx="2286000" cy="3048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296400" y="6438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140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85800" y="2514600"/>
            <a:ext cx="6350000" cy="370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641600"/>
            <a:ext cx="3581400" cy="3581400"/>
          </a:xfrm>
          <a:prstGeom prst="rect">
            <a:avLst/>
          </a:prstGeom>
          <a:ln w="9525" cap="flat" cmpd="sng" algn="ctr">
            <a:solidFill>
              <a:srgbClr val="D4DCE3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16" name="Прямая соединительная линия 15"/>
          <p:cNvCxnSpPr/>
          <p:nvPr/>
        </p:nvCxnSpPr>
        <p:spPr>
          <a:xfrm flipH="1" flipV="1">
            <a:off x="4089400" y="3251200"/>
            <a:ext cx="1371600" cy="25400"/>
          </a:xfrm>
          <a:prstGeom prst="line">
            <a:avLst/>
          </a:prstGeom>
          <a:ln w="27940">
            <a:solidFill>
              <a:srgbClr val="A63D4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 flipH="1" flipV="1">
            <a:off x="3556000" y="3632200"/>
            <a:ext cx="1778000" cy="406400"/>
          </a:xfrm>
          <a:prstGeom prst="line">
            <a:avLst/>
          </a:prstGeom>
          <a:ln w="27940">
            <a:solidFill>
              <a:srgbClr val="A63D4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H="1">
            <a:off x="2946400" y="4800600"/>
            <a:ext cx="2387600" cy="228600"/>
          </a:xfrm>
          <a:prstGeom prst="line">
            <a:avLst/>
          </a:prstGeom>
          <a:ln w="27940">
            <a:solidFill>
              <a:srgbClr val="A63D4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 flipV="1">
            <a:off x="3606800" y="4292600"/>
            <a:ext cx="1727200" cy="1270000"/>
          </a:xfrm>
          <a:prstGeom prst="line">
            <a:avLst/>
          </a:prstGeom>
          <a:ln w="27940">
            <a:solidFill>
              <a:srgbClr val="A63D4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3987800" y="3149600"/>
            <a:ext cx="152400" cy="1524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3454400" y="3556000"/>
            <a:ext cx="152400" cy="1524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2870200" y="4953000"/>
            <a:ext cx="152400" cy="1524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3530600" y="4216400"/>
            <a:ext cx="152400" cy="1524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7315200" y="2590800"/>
            <a:ext cx="4191000" cy="360680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5875" cap="flat" cmpd="sng" algn="ctr">
            <a:solidFill>
              <a:srgbClr val="D48A8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7569200" y="2794000"/>
            <a:ext cx="2184400" cy="609600"/>
          </a:xfrm>
          <a:prstGeom prst="roundRect">
            <a:avLst>
              <a:gd name="adj" fmla="val 16000"/>
            </a:avLst>
          </a:prstGeom>
          <a:solidFill>
            <a:srgbClr val="FFF6F6"/>
          </a:solidFill>
          <a:ln w="27940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7569200" y="28448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2800" b="1" smtClean="0">
                <a:solidFill>
                  <a:srgbClr val="A63D40"/>
                </a:solidFill>
                <a:latin typeface="Segoe UI"/>
              </a:rPr>
              <a:t>СТОП</a:t>
            </a:r>
            <a:endParaRPr lang="ru-RU" sz="2800" b="1">
              <a:solidFill>
                <a:srgbClr val="A63D40"/>
              </a:solidFill>
              <a:latin typeface="Segoe UI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7569200" y="3733800"/>
            <a:ext cx="152400" cy="1524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7823200" y="36830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net bezopasnogo dostupa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7569200" y="4267200"/>
            <a:ext cx="152400" cy="1524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7823200" y="42164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snizu net diagonaley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7569200" y="4800600"/>
            <a:ext cx="152400" cy="1524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7823200" y="47498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400" b="1" smtClean="0">
                <a:solidFill>
                  <a:srgbClr val="17324D"/>
                </a:solidFill>
                <a:latin typeface="Segoe UI"/>
              </a:rPr>
              <a:t>vtoroy yarus s nepolnym nastilom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7569200" y="5334000"/>
            <a:ext cx="152400" cy="1524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7823200" y="52832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naverkhu net bokovogo ograzhdeniya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7569200" y="5842000"/>
            <a:ext cx="3632200" cy="254000"/>
          </a:xfrm>
          <a:prstGeom prst="roundRect">
            <a:avLst>
              <a:gd name="adj" fmla="val 12000"/>
            </a:avLst>
          </a:prstGeom>
          <a:solidFill>
            <a:srgbClr val="FFF3F0"/>
          </a:solidFill>
          <a:ln w="15875" cap="flat" cmpd="sng" algn="ctr">
            <a:solidFill>
              <a:srgbClr val="D48A8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7696200" y="5829300"/>
            <a:ext cx="3378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A63D40"/>
                </a:solidFill>
                <a:latin typeface="Segoe UI"/>
              </a:rPr>
              <a:t>Lyuboy iz etikh priznakov = stop.</a:t>
            </a:r>
            <a:endParaRPr lang="ru-RU" sz="1400" b="1">
              <a:solidFill>
                <a:srgbClr val="A63D4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95508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 smtClean="0">
                <a:solidFill>
                  <a:srgbClr val="FFFFFF"/>
                </a:solidFill>
                <a:latin typeface="Segoe UI"/>
              </a:rPr>
              <a:t>A-48 / TV-05</a:t>
            </a:r>
            <a:endParaRPr lang="ru-RU" sz="1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5E6C78"/>
                </a:solidFill>
                <a:latin typeface="Segoe UI"/>
              </a:rPr>
              <a:t>Assessment demolition sequence board</a:t>
            </a:r>
            <a:endParaRPr lang="ru-RU" sz="140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 smtClean="0">
                <a:solidFill>
                  <a:srgbClr val="17324D"/>
                </a:solidFill>
                <a:latin typeface="Segoe UI"/>
              </a:rPr>
              <a:t>Demontazh = poryadok. Ne razbiray kak popalo.</a:t>
            </a:r>
            <a:endParaRPr lang="ru-RU" sz="2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mtClean="0">
                <a:solidFill>
                  <a:srgbClr val="445465"/>
                </a:solidFill>
                <a:latin typeface="Segoe UI"/>
              </a:rPr>
              <a:t>Zona pod kontrolem. Bez sbrosa vniz.</a:t>
            </a:r>
            <a:endParaRPr lang="ru-RU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9600" y="1930400"/>
            <a:ext cx="7112000" cy="431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71120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Q-22: kakaya logika demontazha pravilnaya?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4262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77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140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296400" y="6400800"/>
            <a:ext cx="2286000" cy="3048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296400" y="6438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140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85800" y="2895600"/>
            <a:ext cx="24638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838200" y="3022600"/>
            <a:ext cx="330200" cy="330200"/>
          </a:xfrm>
          <a:prstGeom prst="ellipse">
            <a:avLst/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838200" y="30226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 smtClean="0">
                <a:solidFill>
                  <a:srgbClr val="FFFFFF"/>
                </a:solidFill>
                <a:latin typeface="Segoe UI"/>
              </a:rPr>
              <a:t>1</a:t>
            </a:r>
            <a:endParaRPr lang="ru-RU" sz="1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70000" y="29972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Kontrol zony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3352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Snachala zakroy zonu vnizu.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3175000" y="3835400"/>
            <a:ext cx="228600" cy="0"/>
          </a:xfrm>
          <a:prstGeom prst="line">
            <a:avLst/>
          </a:prstGeom>
          <a:ln w="2286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3479800" y="2895600"/>
            <a:ext cx="24638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3632200" y="3022600"/>
            <a:ext cx="330200" cy="3302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3632200" y="30226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 smtClean="0">
                <a:solidFill>
                  <a:srgbClr val="FFFFFF"/>
                </a:solidFill>
                <a:latin typeface="Segoe UI"/>
              </a:rPr>
              <a:t>2</a:t>
            </a:r>
            <a:endParaRPr lang="ru-RU" sz="1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64000" y="29972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Poryadok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32200" y="3352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Razbiray po poryadku.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5969000" y="3835400"/>
            <a:ext cx="228600" cy="0"/>
          </a:xfrm>
          <a:prstGeom prst="line">
            <a:avLst/>
          </a:prstGeom>
          <a:ln w="2286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Скругленный прямоугольник 25"/>
          <p:cNvSpPr/>
          <p:nvPr/>
        </p:nvSpPr>
        <p:spPr>
          <a:xfrm>
            <a:off x="6273800" y="2895600"/>
            <a:ext cx="24638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6426200" y="3022600"/>
            <a:ext cx="330200" cy="330200"/>
          </a:xfrm>
          <a:prstGeom prst="ellipse">
            <a:avLst/>
          </a:prstGeom>
          <a:solidFill>
            <a:srgbClr val="C65D1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426200" y="30226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 smtClean="0">
                <a:solidFill>
                  <a:srgbClr val="FFFFFF"/>
                </a:solidFill>
                <a:latin typeface="Segoe UI"/>
              </a:rPr>
              <a:t>3</a:t>
            </a:r>
            <a:endParaRPr lang="ru-RU" sz="1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0" y="29972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Bez sbrosa vniz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26200" y="3352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Ne sbrasyvay element vniz.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>
            <a:off x="8763000" y="3835400"/>
            <a:ext cx="228600" cy="0"/>
          </a:xfrm>
          <a:prstGeom prst="line">
            <a:avLst/>
          </a:prstGeom>
          <a:ln w="2286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Скругленный прямоугольник 31"/>
          <p:cNvSpPr/>
          <p:nvPr/>
        </p:nvSpPr>
        <p:spPr>
          <a:xfrm>
            <a:off x="9067800" y="2895600"/>
            <a:ext cx="24638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>
            <a:off x="9220200" y="3022600"/>
            <a:ext cx="330200" cy="3302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9220200" y="3022600"/>
            <a:ext cx="33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 smtClean="0">
                <a:solidFill>
                  <a:srgbClr val="FFFFFF"/>
                </a:solidFill>
                <a:latin typeface="Segoe UI"/>
              </a:rPr>
              <a:t>4</a:t>
            </a:r>
            <a:endParaRPr lang="ru-RU" sz="14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52000" y="29972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Stop pri riske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20200" y="3352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smtClean="0">
                <a:solidFill>
                  <a:srgbClr val="445465"/>
                </a:solidFill>
                <a:latin typeface="Segoe UI"/>
              </a:rPr>
              <a:t>Risk neyasen - ostanovi rabotu.</a:t>
            </a:r>
            <a:endParaRPr lang="ru-RU" sz="14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3175000" y="5130800"/>
            <a:ext cx="5842000" cy="609600"/>
          </a:xfrm>
          <a:prstGeom prst="roundRect">
            <a:avLst>
              <a:gd name="adj" fmla="val 12000"/>
            </a:avLst>
          </a:prstGeom>
          <a:solidFill>
            <a:srgbClr val="FFF3F0"/>
          </a:solidFill>
          <a:ln w="15875" cap="flat" cmpd="sng" algn="ctr">
            <a:solidFill>
              <a:srgbClr val="D48A8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кругленный прямоугольник 37"/>
          <p:cNvSpPr/>
          <p:nvPr/>
        </p:nvSpPr>
        <p:spPr>
          <a:xfrm>
            <a:off x="3403600" y="5219700"/>
            <a:ext cx="1473200" cy="4318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403600" y="5245100"/>
            <a:ext cx="1473200" cy="369332"/>
          </a:xfrm>
          <a:prstGeom prst="rect">
            <a:avLst/>
          </a:prstGeom>
          <a:noFill/>
        </p:spPr>
        <p:txBody>
          <a:bodyPr vert="horz" wrap="square" lIns="76200" tIns="0" rIns="76200" bIns="0" rtlCol="0" anchor="ctr">
            <a:noAutofit/>
          </a:bodyPr>
          <a:lstStyle/>
          <a:p>
            <a:pPr algn="ctr"/>
            <a:r>
              <a:rPr lang="en-US" sz="2000" b="1" smtClean="0">
                <a:solidFill>
                  <a:srgbClr val="FFFFFF"/>
                </a:solidFill>
                <a:latin typeface="Segoe UI"/>
              </a:rPr>
              <a:t>NO-GO</a:t>
            </a:r>
            <a:endParaRPr lang="ru-RU" sz="2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0" y="5270500"/>
            <a:ext cx="375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400" b="1" smtClean="0">
                <a:solidFill>
                  <a:srgbClr val="7A1D22"/>
                </a:solidFill>
                <a:latin typeface="Segoe UI"/>
              </a:rPr>
              <a:t>Tak nelzya: sbros vniz bez kontrolya.</a:t>
            </a:r>
            <a:endParaRPr lang="ru-RU" sz="1400" b="1">
              <a:solidFill>
                <a:srgbClr val="7A1D22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248528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413</Words>
  <Application>Microsoft Office PowerPoint</Application>
  <PresentationFormat>Произвольный</PresentationFormat>
  <Paragraphs>92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</dc:creator>
  <cp:lastModifiedBy>Дмитрий</cp:lastModifiedBy>
  <cp:revision>4</cp:revision>
  <dcterms:created xsi:type="dcterms:W3CDTF">2026-05-18T15:06:49Z</dcterms:created>
  <dcterms:modified xsi:type="dcterms:W3CDTF">2026-05-18T15:57:11Z</dcterms:modified>
</cp:coreProperties>
</file>