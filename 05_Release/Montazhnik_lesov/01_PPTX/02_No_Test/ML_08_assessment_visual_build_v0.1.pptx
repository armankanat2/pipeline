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20"/>
    <p:restoredTop sz="94660"/>
  </p:normalViewPr>
  <p:slideViewPr>
    <p:cSldViewPr>
      <p:cViewPr varScale="1">
        <p:scale>
          <a:sx n="70" d="100"/>
          <a:sy n="70" d="100"/>
        </p:scale>
        <p:origin x="-1084" y="-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E5C9E-1AC2-4BD6-AA7E-244964439510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CE94A6-DE99-42E7-AFCC-E2CC35C4488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7148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E5C9E-1AC2-4BD6-AA7E-244964439510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CE94A6-DE99-42E7-AFCC-E2CC35C4488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512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E5C9E-1AC2-4BD6-AA7E-244964439510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CE94A6-DE99-42E7-AFCC-E2CC35C4488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47153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12800" y="1600201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229600" y="1600201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E5C9E-1AC2-4BD6-AA7E-244964439510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CE94A6-DE99-42E7-AFCC-E2CC35C4488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22615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E5C9E-1AC2-4BD6-AA7E-244964439510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CE94A6-DE99-42E7-AFCC-E2CC35C4488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8884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E5C9E-1AC2-4BD6-AA7E-244964439510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CE94A6-DE99-42E7-AFCC-E2CC35C4488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93066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E5C9E-1AC2-4BD6-AA7E-244964439510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CE94A6-DE99-42E7-AFCC-E2CC35C4488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5265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E5C9E-1AC2-4BD6-AA7E-244964439510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CE94A6-DE99-42E7-AFCC-E2CC35C4488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5103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E5C9E-1AC2-4BD6-AA7E-244964439510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CE94A6-DE99-42E7-AFCC-E2CC35C4488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288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E5C9E-1AC2-4BD6-AA7E-244964439510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CE94A6-DE99-42E7-AFCC-E2CC35C4488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70758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11785600" y="274639"/>
            <a:ext cx="36576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12800" y="274639"/>
            <a:ext cx="107696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E5C9E-1AC2-4BD6-AA7E-244964439510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CE94A6-DE99-42E7-AFCC-E2CC35C4488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9536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1E5C9E-1AC2-4BD6-AA7E-244964439510}" type="datetimeFigureOut">
              <a:rPr lang="ru-RU" smtClean="0"/>
              <a:t>18.05.2026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CE94A6-DE99-42E7-AFCC-E2CC35C4488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844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1F29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609600" y="431800"/>
            <a:ext cx="1168400" cy="330200"/>
          </a:xfrm>
          <a:prstGeom prst="roundRect">
            <a:avLst>
              <a:gd name="adj" fmla="val 20000"/>
            </a:avLst>
          </a:prstGeom>
          <a:solidFill>
            <a:srgbClr val="2F5D7C"/>
          </a:solidFill>
          <a:ln w="158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rgbClr val="2F5D7C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116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50" b="1" smtClean="0">
                <a:solidFill>
                  <a:srgbClr val="FFFFFF"/>
                </a:solidFill>
                <a:latin typeface="Segoe UI"/>
              </a:rPr>
              <a:t>A-44 / TV-01</a:t>
            </a:r>
            <a:endParaRPr lang="ru-RU" sz="105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55800" y="381000"/>
            <a:ext cx="825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 b="1" smtClean="0">
                <a:solidFill>
                  <a:srgbClr val="5E6C78"/>
                </a:solidFill>
                <a:latin typeface="Segoe UI"/>
              </a:rPr>
              <a:t>Assessment recognition board</a:t>
            </a:r>
            <a:endParaRPr lang="ru-RU" sz="1150" b="1">
              <a:solidFill>
                <a:srgbClr val="5E6C78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9600" y="863600"/>
            <a:ext cx="1016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500" b="1" smtClean="0">
                <a:solidFill>
                  <a:srgbClr val="17324D"/>
                </a:solidFill>
                <a:latin typeface="Segoe UI"/>
              </a:rPr>
              <a:t>Rabochaya ploshchadka schityvaetsya otdelno ot svyazey i krepleniy</a:t>
            </a:r>
            <a:endParaRPr lang="ru-RU" sz="2500" b="1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300" smtClean="0">
                <a:solidFill>
                  <a:srgbClr val="445465"/>
                </a:solidFill>
                <a:latin typeface="Segoe UI"/>
              </a:rPr>
              <a:t>Board dolzhen bystro pokazyvat rol gruppy: chto dayot poverkhnost dlya raboty, chto derzhit zhestkost i chto fiksiruet uzel.</a:t>
            </a:r>
            <a:endParaRPr lang="ru-RU" sz="130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609600" y="1930400"/>
            <a:ext cx="4445000" cy="304800"/>
          </a:xfrm>
          <a:prstGeom prst="roundRect">
            <a:avLst>
              <a:gd name="adj" fmla="val 18000"/>
            </a:avLst>
          </a:prstGeom>
          <a:solidFill>
            <a:srgbClr val="C65D18"/>
          </a:solidFill>
          <a:ln w="15875" cap="flat" cmpd="sng" algn="ctr">
            <a:solidFill>
              <a:srgbClr val="C65D18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609600" y="1955800"/>
            <a:ext cx="444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00" b="1" smtClean="0">
                <a:solidFill>
                  <a:srgbClr val="FFFFFF"/>
                </a:solidFill>
                <a:latin typeface="Segoe UI"/>
              </a:rPr>
              <a:t>Q-07: kakaya gruppa formiruet rabochuyu ploshchadku?</a:t>
            </a:r>
            <a:endParaRPr lang="ru-RU" sz="1000" b="1">
              <a:solidFill>
                <a:srgbClr val="FFFFFF"/>
              </a:solidFill>
              <a:latin typeface="Segoe UI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609600" y="6350000"/>
            <a:ext cx="10972800" cy="0"/>
          </a:xfrm>
          <a:prstGeom prst="line">
            <a:avLst/>
          </a:prstGeom>
          <a:ln w="12700">
            <a:solidFill>
              <a:srgbClr val="C7D0D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9600" y="64262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950" smtClean="0">
                <a:solidFill>
                  <a:srgbClr val="6A7782"/>
                </a:solidFill>
                <a:latin typeface="Segoe UI"/>
              </a:rPr>
              <a:t>Montazhnik lesov | Assessment visual build draft</a:t>
            </a:r>
            <a:endParaRPr lang="ru-RU" sz="950">
              <a:solidFill>
                <a:srgbClr val="6A7782"/>
              </a:solidFill>
              <a:latin typeface="Segoe UI"/>
            </a:endParaRP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9982200" y="6400800"/>
            <a:ext cx="1600200" cy="254000"/>
          </a:xfrm>
          <a:prstGeom prst="roundRect">
            <a:avLst>
              <a:gd name="adj" fmla="val 16000"/>
            </a:avLst>
          </a:prstGeom>
          <a:solidFill>
            <a:srgbClr val="F4F1EA"/>
          </a:solidFill>
          <a:ln w="12700" cap="flat" cmpd="sng" algn="ctr">
            <a:solidFill>
              <a:srgbClr val="B7C3CC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9982200" y="6426200"/>
            <a:ext cx="1600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smtClean="0">
                <a:solidFill>
                  <a:srgbClr val="77838E"/>
                </a:solidFill>
                <a:latin typeface="Segoe UI"/>
              </a:rPr>
              <a:t>TV anchor / QA slot</a:t>
            </a:r>
            <a:endParaRPr lang="ru-RU" sz="850">
              <a:solidFill>
                <a:srgbClr val="77838E"/>
              </a:solidFill>
              <a:latin typeface="Segoe UI"/>
            </a:endParaRP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685800" y="2463800"/>
            <a:ext cx="3352800" cy="330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 cap="flat" cmpd="sng" algn="ctr">
            <a:solidFill>
              <a:srgbClr val="C7D0D8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700" y="2667000"/>
            <a:ext cx="2921000" cy="1879600"/>
          </a:xfrm>
          <a:prstGeom prst="rect">
            <a:avLst/>
          </a:prstGeom>
          <a:ln w="9525" cap="flat" cmpd="sng" algn="ctr">
            <a:solidFill>
              <a:srgbClr val="D4DCE3"/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16" name="Прямоугольник 15"/>
          <p:cNvSpPr/>
          <p:nvPr/>
        </p:nvSpPr>
        <p:spPr>
          <a:xfrm>
            <a:off x="901700" y="4597400"/>
            <a:ext cx="2921000" cy="76200"/>
          </a:xfrm>
          <a:prstGeom prst="rect">
            <a:avLst/>
          </a:prstGeom>
          <a:solidFill>
            <a:srgbClr val="2E7D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Скругленный прямоугольник 16"/>
          <p:cNvSpPr/>
          <p:nvPr/>
        </p:nvSpPr>
        <p:spPr>
          <a:xfrm>
            <a:off x="901700" y="4800600"/>
            <a:ext cx="2921000" cy="355600"/>
          </a:xfrm>
          <a:prstGeom prst="roundRect">
            <a:avLst>
              <a:gd name="adj" fmla="val 16000"/>
            </a:avLst>
          </a:prstGeom>
          <a:solidFill>
            <a:srgbClr val="535861"/>
          </a:solidFill>
          <a:ln w="158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rgbClr val="53586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1041400" y="4914900"/>
            <a:ext cx="127000" cy="127000"/>
          </a:xfrm>
          <a:prstGeom prst="ellipse">
            <a:avLst/>
          </a:prstGeom>
          <a:solidFill>
            <a:srgbClr val="2E7D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/>
          <p:cNvSpPr txBox="1"/>
          <p:nvPr/>
        </p:nvSpPr>
        <p:spPr>
          <a:xfrm>
            <a:off x="1244600" y="4838700"/>
            <a:ext cx="243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20" b="1" smtClean="0">
                <a:solidFill>
                  <a:srgbClr val="FFFFFF"/>
                </a:solidFill>
                <a:latin typeface="Segoe UI"/>
              </a:rPr>
              <a:t>Nastily / rabochaya ploshchadka</a:t>
            </a:r>
            <a:endParaRPr lang="ru-RU" sz="112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01700" y="52324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40" smtClean="0">
                <a:solidFill>
                  <a:srgbClr val="465564"/>
                </a:solidFill>
                <a:latin typeface="Segoe UI"/>
              </a:rPr>
              <a:t>Na etoy gruppe rabotayut. Eto pravilnyy fokus dlya Q-07.</a:t>
            </a:r>
            <a:endParaRPr lang="ru-RU" sz="1040">
              <a:solidFill>
                <a:srgbClr val="465564"/>
              </a:solidFill>
              <a:latin typeface="Segoe UI"/>
            </a:endParaRPr>
          </a:p>
        </p:txBody>
      </p:sp>
      <p:sp>
        <p:nvSpPr>
          <p:cNvPr id="21" name="Скругленный прямоугольник 20"/>
          <p:cNvSpPr/>
          <p:nvPr/>
        </p:nvSpPr>
        <p:spPr>
          <a:xfrm>
            <a:off x="4419600" y="2463800"/>
            <a:ext cx="3352800" cy="330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 cap="flat" cmpd="sng" algn="ctr">
            <a:solidFill>
              <a:srgbClr val="C7D0D8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5500" y="2667000"/>
            <a:ext cx="2921000" cy="1879600"/>
          </a:xfrm>
          <a:prstGeom prst="rect">
            <a:avLst/>
          </a:prstGeom>
          <a:ln w="9525" cap="flat" cmpd="sng" algn="ctr">
            <a:solidFill>
              <a:srgbClr val="D4DCE3"/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23" name="Прямоугольник 22"/>
          <p:cNvSpPr/>
          <p:nvPr/>
        </p:nvSpPr>
        <p:spPr>
          <a:xfrm>
            <a:off x="4635500" y="4597400"/>
            <a:ext cx="2921000" cy="76200"/>
          </a:xfrm>
          <a:prstGeom prst="rect">
            <a:avLst/>
          </a:prstGeom>
          <a:solidFill>
            <a:srgbClr val="D58B2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Скругленный прямоугольник 23"/>
          <p:cNvSpPr/>
          <p:nvPr/>
        </p:nvSpPr>
        <p:spPr>
          <a:xfrm>
            <a:off x="4635500" y="4800600"/>
            <a:ext cx="2921000" cy="355600"/>
          </a:xfrm>
          <a:prstGeom prst="roundRect">
            <a:avLst>
              <a:gd name="adj" fmla="val 16000"/>
            </a:avLst>
          </a:prstGeom>
          <a:solidFill>
            <a:srgbClr val="535861"/>
          </a:solidFill>
          <a:ln w="158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rgbClr val="53586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Овал 24"/>
          <p:cNvSpPr/>
          <p:nvPr/>
        </p:nvSpPr>
        <p:spPr>
          <a:xfrm>
            <a:off x="4775200" y="4914900"/>
            <a:ext cx="127000" cy="127000"/>
          </a:xfrm>
          <a:prstGeom prst="ellipse">
            <a:avLst/>
          </a:prstGeom>
          <a:solidFill>
            <a:srgbClr val="D58B2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4978400" y="4838700"/>
            <a:ext cx="243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20" b="1" smtClean="0">
                <a:solidFill>
                  <a:srgbClr val="FFFFFF"/>
                </a:solidFill>
                <a:latin typeface="Segoe UI"/>
              </a:rPr>
              <a:t>Svyazi / zhestkost</a:t>
            </a:r>
            <a:endParaRPr lang="ru-RU" sz="112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635500" y="52324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40" smtClean="0">
                <a:solidFill>
                  <a:srgbClr val="465564"/>
                </a:solidFill>
                <a:latin typeface="Segoe UI"/>
              </a:rPr>
              <a:t>Derzhat geometriyu i zhestkost, no ne formiruyut rabochuyu ploshchadku.</a:t>
            </a:r>
            <a:endParaRPr lang="ru-RU" sz="1040">
              <a:solidFill>
                <a:srgbClr val="465564"/>
              </a:solidFill>
              <a:latin typeface="Segoe UI"/>
            </a:endParaRPr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8153400" y="2463800"/>
            <a:ext cx="3352800" cy="330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 cap="flat" cmpd="sng" algn="ctr">
            <a:solidFill>
              <a:srgbClr val="C7D0D8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9" name="Рисунок 28"/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9300" y="2667000"/>
            <a:ext cx="2921000" cy="1879600"/>
          </a:xfrm>
          <a:prstGeom prst="rect">
            <a:avLst/>
          </a:prstGeom>
          <a:ln w="9525" cap="flat" cmpd="sng" algn="ctr">
            <a:solidFill>
              <a:srgbClr val="D4DCE3"/>
            </a:solidFill>
            <a:prstDash val="solid"/>
            <a:round/>
            <a:headEnd type="none" w="med" len="med"/>
            <a:tailEnd type="none" w="med" len="med"/>
          </a:ln>
        </p:spPr>
      </p:pic>
      <p:sp>
        <p:nvSpPr>
          <p:cNvPr id="30" name="Прямоугольник 29"/>
          <p:cNvSpPr/>
          <p:nvPr/>
        </p:nvSpPr>
        <p:spPr>
          <a:xfrm>
            <a:off x="8369300" y="4597400"/>
            <a:ext cx="2921000" cy="76200"/>
          </a:xfrm>
          <a:prstGeom prst="rect">
            <a:avLst/>
          </a:prstGeom>
          <a:solidFill>
            <a:srgbClr val="8E4A76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Скругленный прямоугольник 30"/>
          <p:cNvSpPr/>
          <p:nvPr/>
        </p:nvSpPr>
        <p:spPr>
          <a:xfrm>
            <a:off x="8369300" y="4800600"/>
            <a:ext cx="2921000" cy="355600"/>
          </a:xfrm>
          <a:prstGeom prst="roundRect">
            <a:avLst>
              <a:gd name="adj" fmla="val 16000"/>
            </a:avLst>
          </a:prstGeom>
          <a:solidFill>
            <a:srgbClr val="535861"/>
          </a:solidFill>
          <a:ln w="158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rgbClr val="535861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Овал 31"/>
          <p:cNvSpPr/>
          <p:nvPr/>
        </p:nvSpPr>
        <p:spPr>
          <a:xfrm>
            <a:off x="8509000" y="4914900"/>
            <a:ext cx="127000" cy="127000"/>
          </a:xfrm>
          <a:prstGeom prst="ellipse">
            <a:avLst/>
          </a:prstGeom>
          <a:solidFill>
            <a:srgbClr val="8E4A76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TextBox 32"/>
          <p:cNvSpPr txBox="1"/>
          <p:nvPr/>
        </p:nvSpPr>
        <p:spPr>
          <a:xfrm>
            <a:off x="8712200" y="4838700"/>
            <a:ext cx="243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20" b="1" smtClean="0">
                <a:solidFill>
                  <a:srgbClr val="FFFFFF"/>
                </a:solidFill>
                <a:latin typeface="Segoe UI"/>
              </a:rPr>
              <a:t>Kreplenie / fiksatsiya</a:t>
            </a:r>
            <a:endParaRPr lang="ru-RU" sz="112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369300" y="52324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40" smtClean="0">
                <a:solidFill>
                  <a:srgbClr val="465564"/>
                </a:solidFill>
                <a:latin typeface="Segoe UI"/>
              </a:rPr>
              <a:t>Uderzhivaet uzel i skhemu, no ne yavlyaetsya rabochey ploshchadkoy.</a:t>
            </a:r>
            <a:endParaRPr lang="ru-RU" sz="1040">
              <a:solidFill>
                <a:srgbClr val="465564"/>
              </a:solidFill>
              <a:latin typeface="Segoe UI"/>
            </a:endParaRPr>
          </a:p>
        </p:txBody>
      </p:sp>
      <p:sp>
        <p:nvSpPr>
          <p:cNvPr id="35" name="Скругленный прямоугольник 34"/>
          <p:cNvSpPr/>
          <p:nvPr/>
        </p:nvSpPr>
        <p:spPr>
          <a:xfrm>
            <a:off x="2438400" y="5842000"/>
            <a:ext cx="7315200" cy="304800"/>
          </a:xfrm>
          <a:prstGeom prst="roundRect">
            <a:avLst>
              <a:gd name="adj" fmla="val 14000"/>
            </a:avLst>
          </a:prstGeom>
          <a:solidFill>
            <a:srgbClr val="FFF3E8"/>
          </a:solidFill>
          <a:ln w="15875" cap="flat" cmpd="sng" algn="ctr">
            <a:solidFill>
              <a:srgbClr val="E4B07E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Скругленный прямоугольник 35"/>
          <p:cNvSpPr/>
          <p:nvPr/>
        </p:nvSpPr>
        <p:spPr>
          <a:xfrm>
            <a:off x="2616200" y="5854700"/>
            <a:ext cx="1168400" cy="279400"/>
          </a:xfrm>
          <a:prstGeom prst="roundRect">
            <a:avLst>
              <a:gd name="adj" fmla="val 18000"/>
            </a:avLst>
          </a:prstGeom>
          <a:solidFill>
            <a:srgbClr val="C65D18"/>
          </a:solidFill>
          <a:ln w="15875" cap="flat" cmpd="sng" algn="ctr">
            <a:solidFill>
              <a:srgbClr val="C65D18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2616200" y="5880100"/>
            <a:ext cx="116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00" b="1" smtClean="0">
                <a:solidFill>
                  <a:srgbClr val="FFFFFF"/>
                </a:solidFill>
                <a:latin typeface="Segoe UI"/>
              </a:rPr>
              <a:t>Q-07</a:t>
            </a:r>
            <a:endParaRPr lang="ru-RU" sz="100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937000" y="58801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00" b="1" smtClean="0">
                <a:solidFill>
                  <a:srgbClr val="7A4A1A"/>
                </a:solidFill>
                <a:latin typeface="Segoe UI"/>
              </a:rPr>
              <a:t>Ne putat rabochuyu ploshchadku so svyazyami i krepleniem.</a:t>
            </a:r>
            <a:endParaRPr lang="ru-RU" sz="1100" b="1">
              <a:solidFill>
                <a:srgbClr val="7A4A1A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834886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1F29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609600" y="431800"/>
            <a:ext cx="1168400" cy="330200"/>
          </a:xfrm>
          <a:prstGeom prst="roundRect">
            <a:avLst>
              <a:gd name="adj" fmla="val 20000"/>
            </a:avLst>
          </a:prstGeom>
          <a:solidFill>
            <a:srgbClr val="2F5D7C"/>
          </a:solidFill>
          <a:ln w="158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rgbClr val="2F5D7C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116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50" b="1" smtClean="0">
                <a:solidFill>
                  <a:srgbClr val="FFFFFF"/>
                </a:solidFill>
                <a:latin typeface="Segoe UI"/>
              </a:rPr>
              <a:t>A-45 / TV-02</a:t>
            </a:r>
            <a:endParaRPr lang="ru-RU" sz="105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55800" y="381000"/>
            <a:ext cx="825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 b="1" smtClean="0">
                <a:solidFill>
                  <a:srgbClr val="5E6C78"/>
                </a:solidFill>
                <a:latin typeface="Segoe UI"/>
              </a:rPr>
              <a:t>Assessment intake compare-card</a:t>
            </a:r>
            <a:endParaRPr lang="ru-RU" sz="1150" b="1">
              <a:solidFill>
                <a:srgbClr val="5E6C78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9600" y="863600"/>
            <a:ext cx="1016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500" b="1" smtClean="0">
                <a:solidFill>
                  <a:srgbClr val="17324D"/>
                </a:solidFill>
                <a:latin typeface="Segoe UI"/>
              </a:rPr>
              <a:t>Do sborki nuzhen prostoy filtr: godno ili srazu vyvodim iz raboty</a:t>
            </a:r>
            <a:endParaRPr lang="ru-RU" sz="2500" b="1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38519" y="14478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Visual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nuzhen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ne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dlya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'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pochti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godno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', a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dlya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mgnovennogo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resheniya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po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priemke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elementa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.</a:t>
            </a:r>
            <a:endParaRPr lang="ru-RU" sz="1400" dirty="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609600" y="1930400"/>
            <a:ext cx="4445000" cy="490488"/>
          </a:xfrm>
          <a:prstGeom prst="roundRect">
            <a:avLst>
              <a:gd name="adj" fmla="val 18000"/>
            </a:avLst>
          </a:prstGeom>
          <a:solidFill>
            <a:srgbClr val="C65D18"/>
          </a:solidFill>
          <a:ln w="15875" cap="flat" cmpd="sng" algn="ctr">
            <a:solidFill>
              <a:srgbClr val="C65D18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609600" y="1955800"/>
            <a:ext cx="444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 dirty="0" smtClean="0">
                <a:solidFill>
                  <a:srgbClr val="FFFFFF"/>
                </a:solidFill>
                <a:latin typeface="Segoe UI"/>
              </a:rPr>
              <a:t>Test prompt: </a:t>
            </a:r>
            <a:r>
              <a:rPr lang="en-US" sz="1400" b="1" dirty="0" err="1" smtClean="0">
                <a:solidFill>
                  <a:srgbClr val="FFFFFF"/>
                </a:solidFill>
                <a:latin typeface="Segoe UI"/>
              </a:rPr>
              <a:t>kakoy</a:t>
            </a:r>
            <a:r>
              <a:rPr lang="en-US" sz="1400" b="1" dirty="0" smtClean="0">
                <a:solidFill>
                  <a:srgbClr val="FFFFFF"/>
                </a:solidFill>
                <a:latin typeface="Segoe UI"/>
              </a:rPr>
              <a:t> element </a:t>
            </a:r>
            <a:r>
              <a:rPr lang="en-US" sz="1400" b="1" dirty="0" err="1" smtClean="0">
                <a:solidFill>
                  <a:srgbClr val="FFFFFF"/>
                </a:solidFill>
                <a:latin typeface="Segoe UI"/>
              </a:rPr>
              <a:t>nado</a:t>
            </a:r>
            <a:r>
              <a:rPr lang="en-US" sz="1400" b="1" dirty="0" smtClean="0">
                <a:solidFill>
                  <a:srgbClr val="FFFFFF"/>
                </a:solidFill>
                <a:latin typeface="Segoe UI"/>
              </a:rPr>
              <a:t> </a:t>
            </a:r>
            <a:r>
              <a:rPr lang="en-US" sz="1400" b="1" dirty="0" err="1" smtClean="0">
                <a:solidFill>
                  <a:srgbClr val="FFFFFF"/>
                </a:solidFill>
                <a:latin typeface="Segoe UI"/>
              </a:rPr>
              <a:t>srazu</a:t>
            </a:r>
            <a:r>
              <a:rPr lang="en-US" sz="1400" b="1" dirty="0" smtClean="0">
                <a:solidFill>
                  <a:srgbClr val="FFFFFF"/>
                </a:solidFill>
                <a:latin typeface="Segoe UI"/>
              </a:rPr>
              <a:t> </a:t>
            </a:r>
            <a:r>
              <a:rPr lang="en-US" sz="1400" b="1" dirty="0" err="1" smtClean="0">
                <a:solidFill>
                  <a:srgbClr val="FFFFFF"/>
                </a:solidFill>
                <a:latin typeface="Segoe UI"/>
              </a:rPr>
              <a:t>vyvesti</a:t>
            </a:r>
            <a:r>
              <a:rPr lang="en-US" sz="1400" b="1" dirty="0" smtClean="0">
                <a:solidFill>
                  <a:srgbClr val="FFFFFF"/>
                </a:solidFill>
                <a:latin typeface="Segoe UI"/>
              </a:rPr>
              <a:t> </a:t>
            </a:r>
            <a:r>
              <a:rPr lang="en-US" sz="1400" b="1" dirty="0" err="1" smtClean="0">
                <a:solidFill>
                  <a:srgbClr val="FFFFFF"/>
                </a:solidFill>
                <a:latin typeface="Segoe UI"/>
              </a:rPr>
              <a:t>iz</a:t>
            </a:r>
            <a:r>
              <a:rPr lang="en-US" sz="1400" b="1" dirty="0" smtClean="0">
                <a:solidFill>
                  <a:srgbClr val="FFFFFF"/>
                </a:solidFill>
                <a:latin typeface="Segoe UI"/>
              </a:rPr>
              <a:t> </a:t>
            </a:r>
            <a:r>
              <a:rPr lang="en-US" sz="1400" b="1" dirty="0" err="1" smtClean="0">
                <a:solidFill>
                  <a:srgbClr val="FFFFFF"/>
                </a:solidFill>
                <a:latin typeface="Segoe UI"/>
              </a:rPr>
              <a:t>sborki</a:t>
            </a:r>
            <a:endParaRPr lang="ru-RU" sz="1400" b="1" dirty="0">
              <a:solidFill>
                <a:srgbClr val="FFFFFF"/>
              </a:solidFill>
              <a:latin typeface="Segoe UI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609600" y="6350000"/>
            <a:ext cx="10972800" cy="0"/>
          </a:xfrm>
          <a:prstGeom prst="line">
            <a:avLst/>
          </a:prstGeom>
          <a:ln w="12700">
            <a:solidFill>
              <a:srgbClr val="C7D0D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9600" y="64262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950" smtClean="0">
                <a:solidFill>
                  <a:srgbClr val="6A7782"/>
                </a:solidFill>
                <a:latin typeface="Segoe UI"/>
              </a:rPr>
              <a:t>Montazhnik lesov | Assessment visual build draft</a:t>
            </a:r>
            <a:endParaRPr lang="ru-RU" sz="950">
              <a:solidFill>
                <a:srgbClr val="6A7782"/>
              </a:solidFill>
              <a:latin typeface="Segoe UI"/>
            </a:endParaRP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9982200" y="6400800"/>
            <a:ext cx="1600200" cy="254000"/>
          </a:xfrm>
          <a:prstGeom prst="roundRect">
            <a:avLst>
              <a:gd name="adj" fmla="val 16000"/>
            </a:avLst>
          </a:prstGeom>
          <a:solidFill>
            <a:srgbClr val="F4F1EA"/>
          </a:solidFill>
          <a:ln w="12700" cap="flat" cmpd="sng" algn="ctr">
            <a:solidFill>
              <a:srgbClr val="B7C3CC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9982200" y="6426200"/>
            <a:ext cx="1600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smtClean="0">
                <a:solidFill>
                  <a:srgbClr val="77838E"/>
                </a:solidFill>
                <a:latin typeface="Segoe UI"/>
              </a:rPr>
              <a:t>TV anchor / QA slot</a:t>
            </a:r>
            <a:endParaRPr lang="ru-RU" sz="850">
              <a:solidFill>
                <a:srgbClr val="77838E"/>
              </a:solidFill>
              <a:latin typeface="Segoe UI"/>
            </a:endParaRP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89000" y="2590800"/>
            <a:ext cx="4572000" cy="2895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 cap="flat" cmpd="sng" algn="ctr">
            <a:solidFill>
              <a:srgbClr val="B8C4CE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1092200" y="2768600"/>
            <a:ext cx="1320800" cy="279400"/>
          </a:xfrm>
          <a:prstGeom prst="roundRect">
            <a:avLst>
              <a:gd name="adj" fmla="val 18000"/>
            </a:avLst>
          </a:prstGeom>
          <a:solidFill>
            <a:srgbClr val="2E7D5B"/>
          </a:solidFill>
          <a:ln w="15875" cap="flat" cmpd="sng" algn="ctr">
            <a:solidFill>
              <a:srgbClr val="2E7D5B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1124139" y="2549778"/>
            <a:ext cx="1320800" cy="71704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2000" b="1" dirty="0" smtClean="0">
                <a:solidFill>
                  <a:srgbClr val="FFFFFF"/>
                </a:solidFill>
                <a:latin typeface="Segoe UI"/>
              </a:rPr>
              <a:t>GOOD</a:t>
            </a:r>
            <a:endParaRPr lang="ru-RU" sz="2000" b="1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2200" y="3124200"/>
            <a:ext cx="416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500" b="1" smtClean="0">
                <a:solidFill>
                  <a:srgbClr val="17324D"/>
                </a:solidFill>
                <a:latin typeface="Segoe UI"/>
              </a:rPr>
              <a:t>Godno v sborku</a:t>
            </a:r>
            <a:endParaRPr lang="ru-RU" sz="1500" b="1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1117600" y="3644900"/>
            <a:ext cx="127000" cy="127000"/>
          </a:xfrm>
          <a:prstGeom prst="ellipse">
            <a:avLst/>
          </a:prstGeom>
          <a:solidFill>
            <a:srgbClr val="2E7D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/>
          <p:cNvSpPr txBox="1"/>
          <p:nvPr/>
        </p:nvSpPr>
        <p:spPr>
          <a:xfrm>
            <a:off x="1320800" y="3581400"/>
            <a:ext cx="3962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bez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deformatsii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i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slomannykh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konturo</a:t>
            </a:r>
            <a:r>
              <a:rPr lang="en-US" sz="1120" dirty="0" err="1" smtClean="0">
                <a:solidFill>
                  <a:srgbClr val="445465"/>
                </a:solidFill>
                <a:latin typeface="Segoe UI"/>
              </a:rPr>
              <a:t>v</a:t>
            </a:r>
            <a:endParaRPr lang="ru-RU" sz="1120" dirty="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1117600" y="4076700"/>
            <a:ext cx="127000" cy="127000"/>
          </a:xfrm>
          <a:prstGeom prst="ellipse">
            <a:avLst/>
          </a:prstGeom>
          <a:solidFill>
            <a:srgbClr val="2E7D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TextBox 20"/>
          <p:cNvSpPr txBox="1"/>
          <p:nvPr/>
        </p:nvSpPr>
        <p:spPr>
          <a:xfrm>
            <a:off x="1320800" y="4013200"/>
            <a:ext cx="3962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komplektnyy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uzel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bez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yavnykh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propuskov</a:t>
            </a:r>
            <a:endParaRPr lang="ru-RU" sz="1400" dirty="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22" name="Овал 21"/>
          <p:cNvSpPr/>
          <p:nvPr/>
        </p:nvSpPr>
        <p:spPr>
          <a:xfrm>
            <a:off x="1117600" y="4508500"/>
            <a:ext cx="127000" cy="127000"/>
          </a:xfrm>
          <a:prstGeom prst="ellipse">
            <a:avLst/>
          </a:prstGeom>
          <a:solidFill>
            <a:srgbClr val="2E7D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1320800" y="4445000"/>
            <a:ext cx="3962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it-IT" sz="1400" dirty="0" smtClean="0">
                <a:solidFill>
                  <a:srgbClr val="445465"/>
                </a:solidFill>
                <a:latin typeface="Segoe UI"/>
              </a:rPr>
              <a:t>rabochiy vid, a ne 'idealnaya vitrinna'</a:t>
            </a:r>
            <a:endParaRPr lang="ru-RU" sz="1400" dirty="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92200" y="5003800"/>
            <a:ext cx="416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b="1" dirty="0" err="1" smtClean="0">
                <a:solidFill>
                  <a:srgbClr val="6A7782"/>
                </a:solidFill>
                <a:latin typeface="Segoe UI"/>
              </a:rPr>
              <a:t>Neutralnyy</a:t>
            </a:r>
            <a:r>
              <a:rPr lang="en-US" sz="1400" b="1" dirty="0" smtClean="0">
                <a:solidFill>
                  <a:srgbClr val="6A7782"/>
                </a:solidFill>
                <a:latin typeface="Segoe UI"/>
              </a:rPr>
              <a:t> </a:t>
            </a:r>
            <a:r>
              <a:rPr lang="en-US" sz="1400" b="1" dirty="0" err="1" smtClean="0">
                <a:solidFill>
                  <a:srgbClr val="6A7782"/>
                </a:solidFill>
                <a:latin typeface="Segoe UI"/>
              </a:rPr>
              <a:t>rabochiy</a:t>
            </a:r>
            <a:r>
              <a:rPr lang="en-US" sz="1400" b="1" dirty="0" smtClean="0">
                <a:solidFill>
                  <a:srgbClr val="6A7782"/>
                </a:solidFill>
                <a:latin typeface="Segoe UI"/>
              </a:rPr>
              <a:t> etalon</a:t>
            </a:r>
            <a:endParaRPr lang="ru-RU" sz="1400" b="1" dirty="0">
              <a:solidFill>
                <a:srgbClr val="6A7782"/>
              </a:solidFill>
              <a:latin typeface="Segoe UI"/>
            </a:endParaRPr>
          </a:p>
        </p:txBody>
      </p:sp>
      <p:sp>
        <p:nvSpPr>
          <p:cNvPr id="25" name="Скругленный прямоугольник 24"/>
          <p:cNvSpPr/>
          <p:nvPr/>
        </p:nvSpPr>
        <p:spPr>
          <a:xfrm>
            <a:off x="6731000" y="2590800"/>
            <a:ext cx="4572000" cy="2895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 cap="flat" cmpd="sng" algn="ctr">
            <a:solidFill>
              <a:srgbClr val="B8C4CE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Скругленный прямоугольник 25"/>
          <p:cNvSpPr/>
          <p:nvPr/>
        </p:nvSpPr>
        <p:spPr>
          <a:xfrm>
            <a:off x="6934200" y="2768600"/>
            <a:ext cx="1320800" cy="279400"/>
          </a:xfrm>
          <a:prstGeom prst="roundRect">
            <a:avLst>
              <a:gd name="adj" fmla="val 18000"/>
            </a:avLst>
          </a:prstGeom>
          <a:solidFill>
            <a:srgbClr val="A63D40"/>
          </a:solidFill>
          <a:ln w="15875" cap="flat" cmpd="sng" algn="ctr">
            <a:solidFill>
              <a:srgbClr val="A63D4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6934200" y="2723634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2000" b="1" smtClean="0">
                <a:solidFill>
                  <a:srgbClr val="FFFFFF"/>
                </a:solidFill>
                <a:latin typeface="Segoe UI"/>
              </a:rPr>
              <a:t>NO-GO</a:t>
            </a:r>
            <a:endParaRPr lang="ru-RU" sz="200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934200" y="3124200"/>
            <a:ext cx="416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500" b="1" smtClean="0">
                <a:solidFill>
                  <a:srgbClr val="17324D"/>
                </a:solidFill>
                <a:latin typeface="Segoe UI"/>
              </a:rPr>
              <a:t>Ne godno v sborku</a:t>
            </a:r>
            <a:endParaRPr lang="ru-RU" sz="1500" b="1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29" name="Овал 28"/>
          <p:cNvSpPr/>
          <p:nvPr/>
        </p:nvSpPr>
        <p:spPr>
          <a:xfrm>
            <a:off x="6959600" y="3644900"/>
            <a:ext cx="127000" cy="127000"/>
          </a:xfrm>
          <a:prstGeom prst="ellipse">
            <a:avLst/>
          </a:prstGeom>
          <a:solidFill>
            <a:srgbClr val="A63D4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TextBox 29"/>
          <p:cNvSpPr txBox="1"/>
          <p:nvPr/>
        </p:nvSpPr>
        <p:spPr>
          <a:xfrm>
            <a:off x="7162800" y="3581400"/>
            <a:ext cx="3962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deformatsiya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ili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yavnoe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iskrivlenie</a:t>
            </a:r>
            <a:endParaRPr lang="ru-RU" sz="1400" dirty="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31" name="Овал 30"/>
          <p:cNvSpPr/>
          <p:nvPr/>
        </p:nvSpPr>
        <p:spPr>
          <a:xfrm>
            <a:off x="6959600" y="4076700"/>
            <a:ext cx="127000" cy="127000"/>
          </a:xfrm>
          <a:prstGeom prst="ellipse">
            <a:avLst/>
          </a:prstGeom>
          <a:solidFill>
            <a:srgbClr val="A63D4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7162800" y="4013200"/>
            <a:ext cx="3962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nekomplektnyy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ili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povrezhdennyy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uzel</a:t>
            </a:r>
            <a:endParaRPr lang="ru-RU" sz="1400" dirty="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33" name="Овал 32"/>
          <p:cNvSpPr/>
          <p:nvPr/>
        </p:nvSpPr>
        <p:spPr>
          <a:xfrm>
            <a:off x="6959600" y="4508500"/>
            <a:ext cx="127000" cy="127000"/>
          </a:xfrm>
          <a:prstGeom prst="ellipse">
            <a:avLst/>
          </a:prstGeom>
          <a:solidFill>
            <a:srgbClr val="A63D4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TextBox 33"/>
          <p:cNvSpPr txBox="1"/>
          <p:nvPr/>
        </p:nvSpPr>
        <p:spPr>
          <a:xfrm>
            <a:off x="7162800" y="4445000"/>
            <a:ext cx="3962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element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srazu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vyvoditsya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iz</a:t>
            </a:r>
            <a:r>
              <a:rPr lang="en-US" sz="1400" dirty="0" smtClean="0">
                <a:solidFill>
                  <a:srgbClr val="445465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45465"/>
                </a:solidFill>
                <a:latin typeface="Segoe UI"/>
              </a:rPr>
              <a:t>sborki</a:t>
            </a:r>
            <a:endParaRPr lang="ru-RU" sz="1400" dirty="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34200" y="5003800"/>
            <a:ext cx="416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l-PL" sz="1400" b="1" dirty="0" smtClean="0">
                <a:solidFill>
                  <a:srgbClr val="6A7782"/>
                </a:solidFill>
                <a:latin typeface="Segoe UI"/>
              </a:rPr>
              <a:t>Ne 'pochti godno', a srazu v brak / otbor</a:t>
            </a:r>
            <a:endParaRPr lang="ru-RU" sz="1400" b="1" dirty="0">
              <a:solidFill>
                <a:srgbClr val="6A7782"/>
              </a:solidFill>
              <a:latin typeface="Segoe UI"/>
            </a:endParaRPr>
          </a:p>
        </p:txBody>
      </p:sp>
      <p:cxnSp>
        <p:nvCxnSpPr>
          <p:cNvPr id="36" name="Прямая соединительная линия 35"/>
          <p:cNvCxnSpPr/>
          <p:nvPr/>
        </p:nvCxnSpPr>
        <p:spPr>
          <a:xfrm>
            <a:off x="5715000" y="4541898"/>
            <a:ext cx="762000" cy="0"/>
          </a:xfrm>
          <a:prstGeom prst="line">
            <a:avLst/>
          </a:prstGeom>
          <a:ln w="38100">
            <a:solidFill>
              <a:srgbClr val="7E8E9C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Скругленный прямоугольник 36"/>
          <p:cNvSpPr/>
          <p:nvPr/>
        </p:nvSpPr>
        <p:spPr>
          <a:xfrm>
            <a:off x="5359400" y="3619877"/>
            <a:ext cx="1473200" cy="304800"/>
          </a:xfrm>
          <a:prstGeom prst="roundRect">
            <a:avLst>
              <a:gd name="adj" fmla="val 18000"/>
            </a:avLst>
          </a:prstGeom>
          <a:solidFill>
            <a:srgbClr val="C65D18"/>
          </a:solidFill>
          <a:ln w="15875" cap="flat" cmpd="sng" algn="ctr">
            <a:solidFill>
              <a:srgbClr val="C65D18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TextBox 37"/>
          <p:cNvSpPr txBox="1"/>
          <p:nvPr/>
        </p:nvSpPr>
        <p:spPr>
          <a:xfrm>
            <a:off x="5446917" y="3581400"/>
            <a:ext cx="1473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 dirty="0" err="1" smtClean="0">
                <a:solidFill>
                  <a:srgbClr val="FFFFFF"/>
                </a:solidFill>
                <a:latin typeface="Segoe UI"/>
              </a:rPr>
              <a:t>otbor</a:t>
            </a:r>
            <a:r>
              <a:rPr lang="en-US" sz="1400" b="1" dirty="0" smtClean="0">
                <a:solidFill>
                  <a:srgbClr val="FFFFFF"/>
                </a:solidFill>
                <a:latin typeface="Segoe UI"/>
              </a:rPr>
              <a:t> do </a:t>
            </a:r>
            <a:r>
              <a:rPr lang="en-US" sz="1400" b="1" dirty="0" err="1" smtClean="0">
                <a:solidFill>
                  <a:srgbClr val="FFFFFF"/>
                </a:solidFill>
                <a:latin typeface="Segoe UI"/>
              </a:rPr>
              <a:t>starta</a:t>
            </a:r>
            <a:endParaRPr lang="ru-RU" sz="1400" b="1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39" name="Скругленный прямоугольник 38"/>
          <p:cNvSpPr/>
          <p:nvPr/>
        </p:nvSpPr>
        <p:spPr>
          <a:xfrm>
            <a:off x="3302000" y="5588000"/>
            <a:ext cx="530860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 cap="flat" cmpd="sng" algn="ctr">
            <a:solidFill>
              <a:srgbClr val="C7D0D8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Овал 39"/>
          <p:cNvSpPr/>
          <p:nvPr/>
        </p:nvSpPr>
        <p:spPr>
          <a:xfrm>
            <a:off x="3517900" y="5756521"/>
            <a:ext cx="127000" cy="127000"/>
          </a:xfrm>
          <a:prstGeom prst="ellipse">
            <a:avLst/>
          </a:prstGeom>
          <a:solidFill>
            <a:srgbClr val="C65D1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3735774" y="5514189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250" b="1" dirty="0" smtClean="0">
                <a:solidFill>
                  <a:srgbClr val="17324D"/>
                </a:solidFill>
                <a:latin typeface="Segoe UI"/>
              </a:rPr>
              <a:t>Q-08 support</a:t>
            </a:r>
            <a:endParaRPr lang="ru-RU" sz="1250" b="1" dirty="0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718422" y="5793174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dirty="0" err="1" smtClean="0">
                <a:solidFill>
                  <a:srgbClr val="4A5968"/>
                </a:solidFill>
                <a:latin typeface="Segoe UI"/>
              </a:rPr>
              <a:t>Pravilnyy</a:t>
            </a:r>
            <a:r>
              <a:rPr lang="en-US" sz="1400" dirty="0" smtClean="0">
                <a:solidFill>
                  <a:srgbClr val="4A5968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A5968"/>
                </a:solidFill>
                <a:latin typeface="Segoe UI"/>
              </a:rPr>
              <a:t>vybor</a:t>
            </a:r>
            <a:r>
              <a:rPr lang="en-US" sz="1400" dirty="0" smtClean="0">
                <a:solidFill>
                  <a:srgbClr val="4A5968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A5968"/>
                </a:solidFill>
                <a:latin typeface="Segoe UI"/>
              </a:rPr>
              <a:t>dolzhen</a:t>
            </a:r>
            <a:r>
              <a:rPr lang="en-US" sz="1400" dirty="0" smtClean="0">
                <a:solidFill>
                  <a:srgbClr val="4A5968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A5968"/>
                </a:solidFill>
                <a:latin typeface="Segoe UI"/>
              </a:rPr>
              <a:t>byt</a:t>
            </a:r>
            <a:r>
              <a:rPr lang="en-US" sz="1400" dirty="0" smtClean="0">
                <a:solidFill>
                  <a:srgbClr val="4A5968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A5968"/>
                </a:solidFill>
                <a:latin typeface="Segoe UI"/>
              </a:rPr>
              <a:t>svyazan</a:t>
            </a:r>
            <a:r>
              <a:rPr lang="en-US" sz="1400" dirty="0" smtClean="0">
                <a:solidFill>
                  <a:srgbClr val="4A5968"/>
                </a:solidFill>
                <a:latin typeface="Segoe UI"/>
              </a:rPr>
              <a:t> s </a:t>
            </a:r>
            <a:r>
              <a:rPr lang="en-US" sz="1400" dirty="0" err="1" smtClean="0">
                <a:solidFill>
                  <a:srgbClr val="4A5968"/>
                </a:solidFill>
                <a:latin typeface="Segoe UI"/>
              </a:rPr>
              <a:t>defektom</a:t>
            </a:r>
            <a:r>
              <a:rPr lang="en-US" sz="1400" dirty="0" smtClean="0">
                <a:solidFill>
                  <a:srgbClr val="4A5968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A5968"/>
                </a:solidFill>
                <a:latin typeface="Segoe UI"/>
              </a:rPr>
              <a:t>ili</a:t>
            </a:r>
            <a:r>
              <a:rPr lang="en-US" sz="1400" dirty="0" smtClean="0">
                <a:solidFill>
                  <a:srgbClr val="4A5968"/>
                </a:solidFill>
                <a:latin typeface="Segoe UI"/>
              </a:rPr>
              <a:t> </a:t>
            </a:r>
            <a:r>
              <a:rPr lang="en-US" sz="1400" dirty="0" err="1" smtClean="0">
                <a:solidFill>
                  <a:srgbClr val="4A5968"/>
                </a:solidFill>
                <a:latin typeface="Segoe UI"/>
              </a:rPr>
              <a:t>nekomplektnostyu</a:t>
            </a:r>
            <a:r>
              <a:rPr lang="en-US" sz="1400" dirty="0" smtClean="0">
                <a:solidFill>
                  <a:srgbClr val="4A5968"/>
                </a:solidFill>
                <a:latin typeface="Segoe UI"/>
              </a:rPr>
              <a:t>, a ne s </a:t>
            </a:r>
            <a:r>
              <a:rPr lang="en-US" sz="1400" dirty="0" err="1" smtClean="0">
                <a:solidFill>
                  <a:srgbClr val="4A5968"/>
                </a:solidFill>
                <a:latin typeface="Segoe UI"/>
              </a:rPr>
              <a:t>vizualnoy</a:t>
            </a:r>
            <a:r>
              <a:rPr lang="en-US" sz="1400" dirty="0" smtClean="0">
                <a:solidFill>
                  <a:srgbClr val="4A5968"/>
                </a:solidFill>
                <a:latin typeface="Segoe UI"/>
              </a:rPr>
              <a:t> '</a:t>
            </a:r>
            <a:r>
              <a:rPr lang="en-US" sz="1400" dirty="0" err="1" smtClean="0">
                <a:solidFill>
                  <a:srgbClr val="4A5968"/>
                </a:solidFill>
                <a:latin typeface="Segoe UI"/>
              </a:rPr>
              <a:t>staryu</a:t>
            </a:r>
            <a:r>
              <a:rPr lang="en-US" sz="1400" dirty="0" smtClean="0">
                <a:solidFill>
                  <a:srgbClr val="4A5968"/>
                </a:solidFill>
                <a:latin typeface="Segoe UI"/>
              </a:rPr>
              <a:t>' </a:t>
            </a:r>
            <a:r>
              <a:rPr lang="en-US" sz="1400" dirty="0" err="1" smtClean="0">
                <a:solidFill>
                  <a:srgbClr val="4A5968"/>
                </a:solidFill>
                <a:latin typeface="Segoe UI"/>
              </a:rPr>
              <a:t>detaley</a:t>
            </a:r>
            <a:r>
              <a:rPr lang="en-US" sz="1400" dirty="0" smtClean="0">
                <a:solidFill>
                  <a:srgbClr val="4A5968"/>
                </a:solidFill>
                <a:latin typeface="Segoe UI"/>
              </a:rPr>
              <a:t>.</a:t>
            </a:r>
            <a:endParaRPr lang="ru-RU" sz="1400" dirty="0">
              <a:solidFill>
                <a:srgbClr val="4A5968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1853162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1F29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609600" y="431800"/>
            <a:ext cx="1168400" cy="330200"/>
          </a:xfrm>
          <a:prstGeom prst="roundRect">
            <a:avLst>
              <a:gd name="adj" fmla="val 20000"/>
            </a:avLst>
          </a:prstGeom>
          <a:solidFill>
            <a:srgbClr val="2F5D7C"/>
          </a:solidFill>
          <a:ln w="158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rgbClr val="2F5D7C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116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50" b="1" smtClean="0">
                <a:solidFill>
                  <a:srgbClr val="FFFFFF"/>
                </a:solidFill>
                <a:latin typeface="Segoe UI"/>
              </a:rPr>
              <a:t>A-46 / TV-03</a:t>
            </a:r>
            <a:endParaRPr lang="ru-RU" sz="105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55800" y="381000"/>
            <a:ext cx="825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 b="1" smtClean="0">
                <a:solidFill>
                  <a:srgbClr val="5E6C78"/>
                </a:solidFill>
                <a:latin typeface="Segoe UI"/>
              </a:rPr>
              <a:t>Assessment working tier compare-board</a:t>
            </a:r>
            <a:endParaRPr lang="ru-RU" sz="1150" b="1">
              <a:solidFill>
                <a:srgbClr val="5E6C78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9600" y="863600"/>
            <a:ext cx="1016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500" b="1" smtClean="0">
                <a:solidFill>
                  <a:srgbClr val="17324D"/>
                </a:solidFill>
                <a:latin typeface="Segoe UI"/>
              </a:rPr>
              <a:t>Rabochiy yarus schitaetsya gotovym tolko pri polnom nastile i bezopasnom dostupe</a:t>
            </a:r>
            <a:endParaRPr lang="ru-RU" sz="2500" b="1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300" smtClean="0">
                <a:solidFill>
                  <a:srgbClr val="445465"/>
                </a:solidFill>
                <a:latin typeface="Segoe UI"/>
              </a:rPr>
              <a:t>Slayd dolzhen davat binarnyy signal: mozhno rabotat ili rabotu ne nachinat.</a:t>
            </a:r>
            <a:endParaRPr lang="ru-RU" sz="130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609600" y="1930400"/>
            <a:ext cx="4445000" cy="304800"/>
          </a:xfrm>
          <a:prstGeom prst="roundRect">
            <a:avLst>
              <a:gd name="adj" fmla="val 18000"/>
            </a:avLst>
          </a:prstGeom>
          <a:solidFill>
            <a:srgbClr val="C65D18"/>
          </a:solidFill>
          <a:ln w="15875" cap="flat" cmpd="sng" algn="ctr">
            <a:solidFill>
              <a:srgbClr val="C65D18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609600" y="1955800"/>
            <a:ext cx="444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00" b="1" smtClean="0">
                <a:solidFill>
                  <a:srgbClr val="FFFFFF"/>
                </a:solidFill>
                <a:latin typeface="Segoe UI"/>
              </a:rPr>
              <a:t>Test prompt: kakoy yarus schitaetsya nedopustimym dlya raboty</a:t>
            </a:r>
            <a:endParaRPr lang="ru-RU" sz="1000" b="1">
              <a:solidFill>
                <a:srgbClr val="FFFFFF"/>
              </a:solidFill>
              <a:latin typeface="Segoe UI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609600" y="6350000"/>
            <a:ext cx="10972800" cy="0"/>
          </a:xfrm>
          <a:prstGeom prst="line">
            <a:avLst/>
          </a:prstGeom>
          <a:ln w="12700">
            <a:solidFill>
              <a:srgbClr val="C7D0D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9600" y="64262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950" smtClean="0">
                <a:solidFill>
                  <a:srgbClr val="6A7782"/>
                </a:solidFill>
                <a:latin typeface="Segoe UI"/>
              </a:rPr>
              <a:t>Montazhnik lesov | Assessment visual build draft</a:t>
            </a:r>
            <a:endParaRPr lang="ru-RU" sz="950">
              <a:solidFill>
                <a:srgbClr val="6A7782"/>
              </a:solidFill>
              <a:latin typeface="Segoe UI"/>
            </a:endParaRP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9982200" y="6400800"/>
            <a:ext cx="1600200" cy="254000"/>
          </a:xfrm>
          <a:prstGeom prst="roundRect">
            <a:avLst>
              <a:gd name="adj" fmla="val 16000"/>
            </a:avLst>
          </a:prstGeom>
          <a:solidFill>
            <a:srgbClr val="F4F1EA"/>
          </a:solidFill>
          <a:ln w="12700" cap="flat" cmpd="sng" algn="ctr">
            <a:solidFill>
              <a:srgbClr val="B7C3CC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9982200" y="6426200"/>
            <a:ext cx="1600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smtClean="0">
                <a:solidFill>
                  <a:srgbClr val="77838E"/>
                </a:solidFill>
                <a:latin typeface="Segoe UI"/>
              </a:rPr>
              <a:t>TV anchor / QA slot</a:t>
            </a:r>
            <a:endParaRPr lang="ru-RU" sz="850">
              <a:solidFill>
                <a:srgbClr val="77838E"/>
              </a:solidFill>
              <a:latin typeface="Segoe UI"/>
            </a:endParaRP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787400" y="2514600"/>
            <a:ext cx="4724400" cy="299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 cap="flat" cmpd="sng" algn="ctr">
            <a:solidFill>
              <a:srgbClr val="B8C4CE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990600" y="2692400"/>
            <a:ext cx="1320800" cy="279400"/>
          </a:xfrm>
          <a:prstGeom prst="roundRect">
            <a:avLst>
              <a:gd name="adj" fmla="val 18000"/>
            </a:avLst>
          </a:prstGeom>
          <a:solidFill>
            <a:srgbClr val="2E7D5B"/>
          </a:solidFill>
          <a:ln w="15875" cap="flat" cmpd="sng" algn="ctr">
            <a:solidFill>
              <a:srgbClr val="2E7D5B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990600" y="27178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00" b="1" smtClean="0">
                <a:solidFill>
                  <a:srgbClr val="FFFFFF"/>
                </a:solidFill>
                <a:latin typeface="Segoe UI"/>
              </a:rPr>
              <a:t>ALLOWED</a:t>
            </a:r>
            <a:endParaRPr lang="ru-RU" sz="100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90600" y="30480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500" b="1" smtClean="0">
                <a:solidFill>
                  <a:srgbClr val="17324D"/>
                </a:solidFill>
                <a:latin typeface="Segoe UI"/>
              </a:rPr>
              <a:t>Yarus gotov</a:t>
            </a:r>
            <a:endParaRPr lang="ru-RU" sz="1500" b="1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1016000" y="3568700"/>
            <a:ext cx="127000" cy="127000"/>
          </a:xfrm>
          <a:prstGeom prst="ellipse">
            <a:avLst/>
          </a:prstGeom>
          <a:solidFill>
            <a:srgbClr val="2E7D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TextBox 18"/>
          <p:cNvSpPr txBox="1"/>
          <p:nvPr/>
        </p:nvSpPr>
        <p:spPr>
          <a:xfrm>
            <a:off x="1219200" y="3505200"/>
            <a:ext cx="4114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20" smtClean="0">
                <a:solidFill>
                  <a:srgbClr val="445465"/>
                </a:solidFill>
                <a:latin typeface="Segoe UI"/>
              </a:rPr>
              <a:t>polnyy nastil schityvaetsya kak rabochaya poverkhnost</a:t>
            </a:r>
            <a:endParaRPr lang="ru-RU" sz="112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1016000" y="4000500"/>
            <a:ext cx="127000" cy="127000"/>
          </a:xfrm>
          <a:prstGeom prst="ellipse">
            <a:avLst/>
          </a:prstGeom>
          <a:solidFill>
            <a:srgbClr val="2E7D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TextBox 20"/>
          <p:cNvSpPr txBox="1"/>
          <p:nvPr/>
        </p:nvSpPr>
        <p:spPr>
          <a:xfrm>
            <a:off x="1219200" y="3937000"/>
            <a:ext cx="4114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l-PL" sz="1120" smtClean="0">
                <a:solidFill>
                  <a:srgbClr val="445465"/>
                </a:solidFill>
                <a:latin typeface="Segoe UI"/>
              </a:rPr>
              <a:t>bezopasnyy dostup ponyaten bez domyslov</a:t>
            </a:r>
            <a:endParaRPr lang="ru-RU" sz="112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22" name="Овал 21"/>
          <p:cNvSpPr/>
          <p:nvPr/>
        </p:nvSpPr>
        <p:spPr>
          <a:xfrm>
            <a:off x="1016000" y="4432300"/>
            <a:ext cx="127000" cy="127000"/>
          </a:xfrm>
          <a:prstGeom prst="ellipse">
            <a:avLst/>
          </a:prstGeom>
          <a:solidFill>
            <a:srgbClr val="2E7D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1219200" y="4368800"/>
            <a:ext cx="4114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20" smtClean="0">
                <a:solidFill>
                  <a:srgbClr val="445465"/>
                </a:solidFill>
                <a:latin typeface="Segoe UI"/>
              </a:rPr>
              <a:t>zashchitnyy kontur na meste</a:t>
            </a:r>
            <a:endParaRPr lang="ru-RU" sz="112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90600" y="50292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40" b="1" smtClean="0">
                <a:solidFill>
                  <a:srgbClr val="6A7782"/>
                </a:solidFill>
                <a:latin typeface="Segoe UI"/>
              </a:rPr>
              <a:t>Mozhno perekhodit k rabote tolko posle etogo minimuma</a:t>
            </a:r>
            <a:endParaRPr lang="ru-RU" sz="1040" b="1">
              <a:solidFill>
                <a:srgbClr val="6A7782"/>
              </a:solidFill>
              <a:latin typeface="Segoe UI"/>
            </a:endParaRPr>
          </a:p>
        </p:txBody>
      </p:sp>
      <p:sp>
        <p:nvSpPr>
          <p:cNvPr id="25" name="Скругленный прямоугольник 24"/>
          <p:cNvSpPr/>
          <p:nvPr/>
        </p:nvSpPr>
        <p:spPr>
          <a:xfrm>
            <a:off x="6680200" y="2514600"/>
            <a:ext cx="4724400" cy="299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 cap="flat" cmpd="sng" algn="ctr">
            <a:solidFill>
              <a:srgbClr val="B8C4CE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Скругленный прямоугольник 25"/>
          <p:cNvSpPr/>
          <p:nvPr/>
        </p:nvSpPr>
        <p:spPr>
          <a:xfrm>
            <a:off x="6883400" y="2692400"/>
            <a:ext cx="1320800" cy="279400"/>
          </a:xfrm>
          <a:prstGeom prst="roundRect">
            <a:avLst>
              <a:gd name="adj" fmla="val 18000"/>
            </a:avLst>
          </a:prstGeom>
          <a:solidFill>
            <a:srgbClr val="A63D40"/>
          </a:solidFill>
          <a:ln w="15875" cap="flat" cmpd="sng" algn="ctr">
            <a:solidFill>
              <a:srgbClr val="A63D4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TextBox 26"/>
          <p:cNvSpPr txBox="1"/>
          <p:nvPr/>
        </p:nvSpPr>
        <p:spPr>
          <a:xfrm>
            <a:off x="6883400" y="2717800"/>
            <a:ext cx="1320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00" b="1" smtClean="0">
                <a:solidFill>
                  <a:srgbClr val="FFFFFF"/>
                </a:solidFill>
                <a:latin typeface="Segoe UI"/>
              </a:rPr>
              <a:t>BLOCKED</a:t>
            </a:r>
            <a:endParaRPr lang="ru-RU" sz="100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883400" y="30480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500" b="1" smtClean="0">
                <a:solidFill>
                  <a:srgbClr val="17324D"/>
                </a:solidFill>
                <a:latin typeface="Segoe UI"/>
              </a:rPr>
              <a:t>Yarus ne gotov</a:t>
            </a:r>
            <a:endParaRPr lang="ru-RU" sz="1500" b="1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29" name="Овал 28"/>
          <p:cNvSpPr/>
          <p:nvPr/>
        </p:nvSpPr>
        <p:spPr>
          <a:xfrm>
            <a:off x="6908800" y="3568700"/>
            <a:ext cx="127000" cy="127000"/>
          </a:xfrm>
          <a:prstGeom prst="ellipse">
            <a:avLst/>
          </a:prstGeom>
          <a:solidFill>
            <a:srgbClr val="A63D4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TextBox 29"/>
          <p:cNvSpPr txBox="1"/>
          <p:nvPr/>
        </p:nvSpPr>
        <p:spPr>
          <a:xfrm>
            <a:off x="7112000" y="3505200"/>
            <a:ext cx="4114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20" smtClean="0">
                <a:solidFill>
                  <a:srgbClr val="445465"/>
                </a:solidFill>
                <a:latin typeface="Segoe UI"/>
              </a:rPr>
              <a:t>nepolnyy nastil ili razryv rabochey poverkhnosti</a:t>
            </a:r>
            <a:endParaRPr lang="ru-RU" sz="112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31" name="Овал 30"/>
          <p:cNvSpPr/>
          <p:nvPr/>
        </p:nvSpPr>
        <p:spPr>
          <a:xfrm>
            <a:off x="6908800" y="4000500"/>
            <a:ext cx="127000" cy="127000"/>
          </a:xfrm>
          <a:prstGeom prst="ellipse">
            <a:avLst/>
          </a:prstGeom>
          <a:solidFill>
            <a:srgbClr val="A63D4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7112000" y="3937000"/>
            <a:ext cx="4114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20" smtClean="0">
                <a:solidFill>
                  <a:srgbClr val="445465"/>
                </a:solidFill>
                <a:latin typeface="Segoe UI"/>
              </a:rPr>
              <a:t>net bezopasnogo dostupa</a:t>
            </a:r>
            <a:endParaRPr lang="ru-RU" sz="112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33" name="Овал 32"/>
          <p:cNvSpPr/>
          <p:nvPr/>
        </p:nvSpPr>
        <p:spPr>
          <a:xfrm>
            <a:off x="6908800" y="4432300"/>
            <a:ext cx="127000" cy="127000"/>
          </a:xfrm>
          <a:prstGeom prst="ellipse">
            <a:avLst/>
          </a:prstGeom>
          <a:solidFill>
            <a:srgbClr val="A63D4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TextBox 33"/>
          <p:cNvSpPr txBox="1"/>
          <p:nvPr/>
        </p:nvSpPr>
        <p:spPr>
          <a:xfrm>
            <a:off x="7112000" y="4368800"/>
            <a:ext cx="4114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20" smtClean="0">
                <a:solidFill>
                  <a:srgbClr val="445465"/>
                </a:solidFill>
                <a:latin typeface="Segoe UI"/>
              </a:rPr>
              <a:t>rabotu ne nachinat do ustraneniya prichiny</a:t>
            </a:r>
            <a:endParaRPr lang="ru-RU" sz="112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883400" y="50292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40" b="1" smtClean="0">
                <a:solidFill>
                  <a:srgbClr val="6A7782"/>
                </a:solidFill>
                <a:latin typeface="Segoe UI"/>
              </a:rPr>
              <a:t>Odin blocked-priznak uzhe lomaet dopusk</a:t>
            </a:r>
            <a:endParaRPr lang="ru-RU" sz="1040" b="1">
              <a:solidFill>
                <a:srgbClr val="6A7782"/>
              </a:solidFill>
              <a:latin typeface="Segoe UI"/>
            </a:endParaRPr>
          </a:p>
        </p:txBody>
      </p:sp>
      <p:sp>
        <p:nvSpPr>
          <p:cNvPr id="36" name="Скругленный прямоугольник 35"/>
          <p:cNvSpPr/>
          <p:nvPr/>
        </p:nvSpPr>
        <p:spPr>
          <a:xfrm>
            <a:off x="4978400" y="5638800"/>
            <a:ext cx="2235200" cy="304800"/>
          </a:xfrm>
          <a:prstGeom prst="roundRect">
            <a:avLst>
              <a:gd name="adj" fmla="val 18000"/>
            </a:avLst>
          </a:prstGeom>
          <a:solidFill>
            <a:srgbClr val="A63D40"/>
          </a:solidFill>
          <a:ln w="15875" cap="flat" cmpd="sng" algn="ctr">
            <a:solidFill>
              <a:srgbClr val="A63D4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/>
          <p:cNvSpPr txBox="1"/>
          <p:nvPr/>
        </p:nvSpPr>
        <p:spPr>
          <a:xfrm>
            <a:off x="4978400" y="5664200"/>
            <a:ext cx="2235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00" b="1" smtClean="0">
                <a:solidFill>
                  <a:srgbClr val="FFFFFF"/>
                </a:solidFill>
                <a:latin typeface="Segoe UI"/>
              </a:rPr>
              <a:t>blocked signal dolzhen byt mgnovennym</a:t>
            </a:r>
            <a:endParaRPr lang="ru-RU" sz="1000" b="1">
              <a:solidFill>
                <a:srgbClr val="FFFFFF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194585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1F29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609600" y="431800"/>
            <a:ext cx="1168400" cy="330200"/>
          </a:xfrm>
          <a:prstGeom prst="roundRect">
            <a:avLst>
              <a:gd name="adj" fmla="val 20000"/>
            </a:avLst>
          </a:prstGeom>
          <a:solidFill>
            <a:srgbClr val="2F5D7C"/>
          </a:solidFill>
          <a:ln w="158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rgbClr val="2F5D7C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116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50" b="1" smtClean="0">
                <a:solidFill>
                  <a:srgbClr val="FFFFFF"/>
                </a:solidFill>
                <a:latin typeface="Segoe UI"/>
              </a:rPr>
              <a:t>A-47 / TV-04</a:t>
            </a:r>
            <a:endParaRPr lang="ru-RU" sz="105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55800" y="381000"/>
            <a:ext cx="825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 b="1" smtClean="0">
                <a:solidFill>
                  <a:srgbClr val="5E6C78"/>
                </a:solidFill>
                <a:latin typeface="Segoe UI"/>
              </a:rPr>
              <a:t>Assessment hazard board</a:t>
            </a:r>
            <a:endParaRPr lang="ru-RU" sz="1150" b="1">
              <a:solidFill>
                <a:srgbClr val="5E6C78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9600" y="863600"/>
            <a:ext cx="1016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500" b="1" smtClean="0">
                <a:solidFill>
                  <a:srgbClr val="17324D"/>
                </a:solidFill>
                <a:latin typeface="Segoe UI"/>
              </a:rPr>
              <a:t>Yavnyy red flag dolzhen perevodit brigadu v stop, a ne v obsuuzhdenie 'mozhno li dotyanut'</a:t>
            </a:r>
            <a:endParaRPr lang="ru-RU" sz="2500" b="1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300" smtClean="0">
                <a:solidFill>
                  <a:srgbClr val="445465"/>
                </a:solidFill>
                <a:latin typeface="Segoe UI"/>
              </a:rPr>
              <a:t>Board materializuet hazard-recognition: odna situatsiya, neskolko risk-signalov i yavnoe deystvie.</a:t>
            </a:r>
            <a:endParaRPr lang="ru-RU" sz="130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609600" y="1930400"/>
            <a:ext cx="4445000" cy="304800"/>
          </a:xfrm>
          <a:prstGeom prst="roundRect">
            <a:avLst>
              <a:gd name="adj" fmla="val 18000"/>
            </a:avLst>
          </a:prstGeom>
          <a:solidFill>
            <a:srgbClr val="C65D18"/>
          </a:solidFill>
          <a:ln w="15875" cap="flat" cmpd="sng" algn="ctr">
            <a:solidFill>
              <a:srgbClr val="C65D18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609600" y="1955800"/>
            <a:ext cx="444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00" b="1" smtClean="0">
                <a:solidFill>
                  <a:srgbClr val="FFFFFF"/>
                </a:solidFill>
                <a:latin typeface="Segoe UI"/>
              </a:rPr>
              <a:t>Test prompt: kakoy priznak trebuet nemedlennogo stopa i ustraneniya</a:t>
            </a:r>
            <a:endParaRPr lang="ru-RU" sz="1000" b="1">
              <a:solidFill>
                <a:srgbClr val="FFFFFF"/>
              </a:solidFill>
              <a:latin typeface="Segoe UI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609600" y="6350000"/>
            <a:ext cx="10972800" cy="0"/>
          </a:xfrm>
          <a:prstGeom prst="line">
            <a:avLst/>
          </a:prstGeom>
          <a:ln w="12700">
            <a:solidFill>
              <a:srgbClr val="C7D0D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9600" y="64262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950" smtClean="0">
                <a:solidFill>
                  <a:srgbClr val="6A7782"/>
                </a:solidFill>
                <a:latin typeface="Segoe UI"/>
              </a:rPr>
              <a:t>Montazhnik lesov | Assessment visual build draft</a:t>
            </a:r>
            <a:endParaRPr lang="ru-RU" sz="950">
              <a:solidFill>
                <a:srgbClr val="6A7782"/>
              </a:solidFill>
              <a:latin typeface="Segoe UI"/>
            </a:endParaRP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9982200" y="6400800"/>
            <a:ext cx="1600200" cy="254000"/>
          </a:xfrm>
          <a:prstGeom prst="roundRect">
            <a:avLst>
              <a:gd name="adj" fmla="val 16000"/>
            </a:avLst>
          </a:prstGeom>
          <a:solidFill>
            <a:srgbClr val="F4F1EA"/>
          </a:solidFill>
          <a:ln w="12700" cap="flat" cmpd="sng" algn="ctr">
            <a:solidFill>
              <a:srgbClr val="B7C3CC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9982200" y="6426200"/>
            <a:ext cx="1600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smtClean="0">
                <a:solidFill>
                  <a:srgbClr val="77838E"/>
                </a:solidFill>
                <a:latin typeface="Segoe UI"/>
              </a:rPr>
              <a:t>TV anchor / QA slot</a:t>
            </a:r>
            <a:endParaRPr lang="ru-RU" sz="850">
              <a:solidFill>
                <a:srgbClr val="77838E"/>
              </a:solidFill>
              <a:latin typeface="Segoe UI"/>
            </a:endParaRP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812800" y="2514600"/>
            <a:ext cx="6578600" cy="309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 cap="flat" cmpd="sng" algn="ctr">
            <a:solidFill>
              <a:srgbClr val="BAC6CF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/>
          <p:cNvSpPr txBox="1"/>
          <p:nvPr/>
        </p:nvSpPr>
        <p:spPr>
          <a:xfrm>
            <a:off x="1041400" y="2667000"/>
            <a:ext cx="279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b="1" smtClean="0">
                <a:solidFill>
                  <a:srgbClr val="17324D"/>
                </a:solidFill>
                <a:latin typeface="Segoe UI"/>
              </a:rPr>
              <a:t>Hazard scene</a:t>
            </a:r>
            <a:endParaRPr lang="ru-RU" sz="1400" b="1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16" name="Прямоугольник 15"/>
          <p:cNvSpPr/>
          <p:nvPr/>
        </p:nvSpPr>
        <p:spPr>
          <a:xfrm>
            <a:off x="1930400" y="3835400"/>
            <a:ext cx="3175000" cy="254000"/>
          </a:xfrm>
          <a:prstGeom prst="rect">
            <a:avLst/>
          </a:prstGeom>
          <a:solidFill>
            <a:srgbClr val="E8EEF2"/>
          </a:solidFill>
          <a:ln w="25400" cap="flat" cmpd="sng" algn="ctr">
            <a:solidFill>
              <a:srgbClr val="8EA2B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1930400" y="3429000"/>
            <a:ext cx="3175000" cy="127000"/>
          </a:xfrm>
          <a:prstGeom prst="rect">
            <a:avLst/>
          </a:prstGeom>
          <a:solidFill>
            <a:srgbClr val="FAD7D9"/>
          </a:solidFill>
          <a:ln w="25400" cap="flat" cmpd="sng" algn="ctr">
            <a:solidFill>
              <a:srgbClr val="A63D4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3200400" y="3098800"/>
            <a:ext cx="330200" cy="330200"/>
          </a:xfrm>
          <a:prstGeom prst="ellipse">
            <a:avLst/>
          </a:prstGeom>
          <a:solidFill>
            <a:srgbClr val="2F5D7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9" name="Прямая соединительная линия 18"/>
          <p:cNvCxnSpPr/>
          <p:nvPr/>
        </p:nvCxnSpPr>
        <p:spPr>
          <a:xfrm>
            <a:off x="3365500" y="3429000"/>
            <a:ext cx="0" cy="431800"/>
          </a:xfrm>
          <a:prstGeom prst="line">
            <a:avLst/>
          </a:prstGeom>
          <a:ln w="38100">
            <a:solidFill>
              <a:srgbClr val="2F5D7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единительная линия 19"/>
          <p:cNvCxnSpPr/>
          <p:nvPr/>
        </p:nvCxnSpPr>
        <p:spPr>
          <a:xfrm>
            <a:off x="3365500" y="3556000"/>
            <a:ext cx="292100" cy="152400"/>
          </a:xfrm>
          <a:prstGeom prst="line">
            <a:avLst/>
          </a:prstGeom>
          <a:ln w="38100">
            <a:solidFill>
              <a:srgbClr val="2F5D7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Скругленный прямоугольник 20"/>
          <p:cNvSpPr/>
          <p:nvPr/>
        </p:nvSpPr>
        <p:spPr>
          <a:xfrm>
            <a:off x="1219200" y="3124200"/>
            <a:ext cx="1447800" cy="279400"/>
          </a:xfrm>
          <a:prstGeom prst="roundRect">
            <a:avLst>
              <a:gd name="adj" fmla="val 18000"/>
            </a:avLst>
          </a:prstGeom>
          <a:solidFill>
            <a:srgbClr val="A63D40"/>
          </a:solidFill>
          <a:ln w="15875" cap="flat" cmpd="sng" algn="ctr">
            <a:solidFill>
              <a:srgbClr val="A63D4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1219200" y="3149600"/>
            <a:ext cx="1447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00" b="1" smtClean="0">
                <a:solidFill>
                  <a:srgbClr val="FFFFFF"/>
                </a:solidFill>
                <a:latin typeface="Segoe UI"/>
              </a:rPr>
              <a:t>narushenie zashchity</a:t>
            </a:r>
            <a:endParaRPr lang="ru-RU" sz="100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23" name="Скругленный прямоугольник 22"/>
          <p:cNvSpPr/>
          <p:nvPr/>
        </p:nvSpPr>
        <p:spPr>
          <a:xfrm>
            <a:off x="4521200" y="4191000"/>
            <a:ext cx="1498600" cy="279400"/>
          </a:xfrm>
          <a:prstGeom prst="roundRect">
            <a:avLst>
              <a:gd name="adj" fmla="val 18000"/>
            </a:avLst>
          </a:prstGeom>
          <a:solidFill>
            <a:srgbClr val="C65D18"/>
          </a:solidFill>
          <a:ln w="15875" cap="flat" cmpd="sng" algn="ctr">
            <a:solidFill>
              <a:srgbClr val="C65D18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TextBox 23"/>
          <p:cNvSpPr txBox="1"/>
          <p:nvPr/>
        </p:nvSpPr>
        <p:spPr>
          <a:xfrm>
            <a:off x="4521200" y="4216400"/>
            <a:ext cx="1498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00" b="1" smtClean="0">
                <a:solidFill>
                  <a:srgbClr val="FFFFFF"/>
                </a:solidFill>
                <a:latin typeface="Segoe UI"/>
              </a:rPr>
              <a:t>opasnyy contour</a:t>
            </a:r>
            <a:endParaRPr lang="ru-RU" sz="100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25" name="Скругленный прямоугольник 24"/>
          <p:cNvSpPr/>
          <p:nvPr/>
        </p:nvSpPr>
        <p:spPr>
          <a:xfrm>
            <a:off x="2692400" y="4724400"/>
            <a:ext cx="1625600" cy="279400"/>
          </a:xfrm>
          <a:prstGeom prst="roundRect">
            <a:avLst>
              <a:gd name="adj" fmla="val 18000"/>
            </a:avLst>
          </a:prstGeom>
          <a:solidFill>
            <a:srgbClr val="A63D40"/>
          </a:solidFill>
          <a:ln w="15875" cap="flat" cmpd="sng" algn="ctr">
            <a:solidFill>
              <a:srgbClr val="A63D4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2692400" y="4749800"/>
            <a:ext cx="162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00" b="1" smtClean="0">
                <a:solidFill>
                  <a:srgbClr val="FFFFFF"/>
                </a:solidFill>
                <a:latin typeface="Segoe UI"/>
              </a:rPr>
              <a:t>rabotu ne prodolzhat</a:t>
            </a:r>
            <a:endParaRPr lang="ru-RU" sz="1000" b="1">
              <a:solidFill>
                <a:srgbClr val="FFFFFF"/>
              </a:solidFill>
              <a:latin typeface="Segoe UI"/>
            </a:endParaRPr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2692400" y="3403600"/>
            <a:ext cx="152400" cy="50800"/>
          </a:xfrm>
          <a:prstGeom prst="line">
            <a:avLst/>
          </a:prstGeom>
          <a:ln w="22860">
            <a:solidFill>
              <a:srgbClr val="A63D4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Прямая соединительная линия 27"/>
          <p:cNvCxnSpPr/>
          <p:nvPr/>
        </p:nvCxnSpPr>
        <p:spPr>
          <a:xfrm flipH="1" flipV="1">
            <a:off x="4038600" y="3962400"/>
            <a:ext cx="482600" cy="508000"/>
          </a:xfrm>
          <a:prstGeom prst="line">
            <a:avLst/>
          </a:prstGeom>
          <a:ln w="22860">
            <a:solidFill>
              <a:srgbClr val="C65D18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единительная линия 28"/>
          <p:cNvCxnSpPr/>
          <p:nvPr/>
        </p:nvCxnSpPr>
        <p:spPr>
          <a:xfrm flipH="1" flipV="1">
            <a:off x="3530600" y="3606800"/>
            <a:ext cx="787400" cy="1270000"/>
          </a:xfrm>
          <a:prstGeom prst="line">
            <a:avLst/>
          </a:prstGeom>
          <a:ln w="22860">
            <a:solidFill>
              <a:srgbClr val="A63D4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Скругленный прямоугольник 29"/>
          <p:cNvSpPr/>
          <p:nvPr/>
        </p:nvSpPr>
        <p:spPr>
          <a:xfrm>
            <a:off x="7924800" y="2692400"/>
            <a:ext cx="3276600" cy="243840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15875" cap="flat" cmpd="sng" algn="ctr">
            <a:solidFill>
              <a:srgbClr val="D48A8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Скругленный прямоугольник 30"/>
          <p:cNvSpPr/>
          <p:nvPr/>
        </p:nvSpPr>
        <p:spPr>
          <a:xfrm>
            <a:off x="8153400" y="2895600"/>
            <a:ext cx="1371600" cy="279400"/>
          </a:xfrm>
          <a:prstGeom prst="roundRect">
            <a:avLst>
              <a:gd name="adj" fmla="val 18000"/>
            </a:avLst>
          </a:prstGeom>
          <a:solidFill>
            <a:srgbClr val="A63D40"/>
          </a:solidFill>
          <a:ln w="15875" cap="flat" cmpd="sng" algn="ctr">
            <a:solidFill>
              <a:srgbClr val="A63D4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8153400" y="2921000"/>
            <a:ext cx="1371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00" b="1" smtClean="0">
                <a:solidFill>
                  <a:srgbClr val="FFFFFF"/>
                </a:solidFill>
                <a:latin typeface="Segoe UI"/>
              </a:rPr>
              <a:t>Action panel</a:t>
            </a:r>
            <a:endParaRPr lang="ru-RU" sz="100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33" name="Скругленный прямоугольник 32"/>
          <p:cNvSpPr/>
          <p:nvPr/>
        </p:nvSpPr>
        <p:spPr>
          <a:xfrm>
            <a:off x="8153400" y="3352800"/>
            <a:ext cx="2743200" cy="50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 cap="flat" cmpd="sng" algn="ctr">
            <a:solidFill>
              <a:srgbClr val="BAC6CF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Овал 33"/>
          <p:cNvSpPr/>
          <p:nvPr/>
        </p:nvSpPr>
        <p:spPr>
          <a:xfrm>
            <a:off x="8305800" y="3505200"/>
            <a:ext cx="355600" cy="355600"/>
          </a:xfrm>
          <a:prstGeom prst="ellipse">
            <a:avLst/>
          </a:prstGeom>
          <a:solidFill>
            <a:srgbClr val="A63D4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/>
          <p:cNvSpPr txBox="1"/>
          <p:nvPr/>
        </p:nvSpPr>
        <p:spPr>
          <a:xfrm>
            <a:off x="8305800" y="3505200"/>
            <a:ext cx="35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ru-RU" sz="1200" b="1" smtClean="0">
                <a:solidFill>
                  <a:srgbClr val="FFFFFF"/>
                </a:solidFill>
                <a:latin typeface="Segoe UI"/>
              </a:rPr>
              <a:t>1</a:t>
            </a:r>
            <a:endParaRPr lang="ru-RU" sz="120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763000" y="3492500"/>
            <a:ext cx="198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300" b="1" smtClean="0">
                <a:solidFill>
                  <a:srgbClr val="17324D"/>
                </a:solidFill>
                <a:latin typeface="Segoe UI"/>
              </a:rPr>
              <a:t>STOP</a:t>
            </a:r>
            <a:endParaRPr lang="ru-RU" sz="1300" b="1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8305800" y="3860800"/>
            <a:ext cx="243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sv-SE" sz="1080" smtClean="0">
                <a:solidFill>
                  <a:srgbClr val="445465"/>
                </a:solidFill>
                <a:latin typeface="Segoe UI"/>
              </a:rPr>
              <a:t>Ostanovit rabotu pri yavnom risk-signale.</a:t>
            </a:r>
            <a:endParaRPr lang="ru-RU" sz="108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38" name="Скругленный прямоугольник 37"/>
          <p:cNvSpPr/>
          <p:nvPr/>
        </p:nvSpPr>
        <p:spPr>
          <a:xfrm>
            <a:off x="8153400" y="3962400"/>
            <a:ext cx="2743200" cy="50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 cap="flat" cmpd="sng" algn="ctr">
            <a:solidFill>
              <a:srgbClr val="BAC6CF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Овал 38"/>
          <p:cNvSpPr/>
          <p:nvPr/>
        </p:nvSpPr>
        <p:spPr>
          <a:xfrm>
            <a:off x="8305800" y="4114800"/>
            <a:ext cx="355600" cy="355600"/>
          </a:xfrm>
          <a:prstGeom prst="ellipse">
            <a:avLst/>
          </a:prstGeom>
          <a:solidFill>
            <a:srgbClr val="C65D1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TextBox 39"/>
          <p:cNvSpPr txBox="1"/>
          <p:nvPr/>
        </p:nvSpPr>
        <p:spPr>
          <a:xfrm>
            <a:off x="8305800" y="4114800"/>
            <a:ext cx="35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ru-RU" sz="1200" b="1" smtClean="0">
                <a:solidFill>
                  <a:srgbClr val="FFFFFF"/>
                </a:solidFill>
                <a:latin typeface="Segoe UI"/>
              </a:rPr>
              <a:t>2</a:t>
            </a:r>
            <a:endParaRPr lang="ru-RU" sz="120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763000" y="4102100"/>
            <a:ext cx="198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300" b="1" smtClean="0">
                <a:solidFill>
                  <a:srgbClr val="17324D"/>
                </a:solidFill>
                <a:latin typeface="Segoe UI"/>
              </a:rPr>
              <a:t>USTRANIT</a:t>
            </a:r>
            <a:endParaRPr lang="ru-RU" sz="1300" b="1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305800" y="4470400"/>
            <a:ext cx="243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80" smtClean="0">
                <a:solidFill>
                  <a:srgbClr val="445465"/>
                </a:solidFill>
                <a:latin typeface="Segoe UI"/>
              </a:rPr>
              <a:t>Snachala ustranit prichinu, a ne normalizovat ee.</a:t>
            </a:r>
            <a:endParaRPr lang="ru-RU" sz="108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43" name="Скругленный прямоугольник 42"/>
          <p:cNvSpPr/>
          <p:nvPr/>
        </p:nvSpPr>
        <p:spPr>
          <a:xfrm>
            <a:off x="8153400" y="4572000"/>
            <a:ext cx="2743200" cy="50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 cap="flat" cmpd="sng" algn="ctr">
            <a:solidFill>
              <a:srgbClr val="BAC6CF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4" name="Овал 43"/>
          <p:cNvSpPr/>
          <p:nvPr/>
        </p:nvSpPr>
        <p:spPr>
          <a:xfrm>
            <a:off x="8305800" y="4724400"/>
            <a:ext cx="355600" cy="355600"/>
          </a:xfrm>
          <a:prstGeom prst="ellipse">
            <a:avLst/>
          </a:prstGeom>
          <a:solidFill>
            <a:srgbClr val="2E7D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/>
          <p:cNvSpPr txBox="1"/>
          <p:nvPr/>
        </p:nvSpPr>
        <p:spPr>
          <a:xfrm>
            <a:off x="8305800" y="4724400"/>
            <a:ext cx="35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ru-RU" sz="1200" b="1" smtClean="0">
                <a:solidFill>
                  <a:srgbClr val="FFFFFF"/>
                </a:solidFill>
                <a:latin typeface="Segoe UI"/>
              </a:rPr>
              <a:t>3</a:t>
            </a:r>
            <a:endParaRPr lang="ru-RU" sz="120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763000" y="4711700"/>
            <a:ext cx="1981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300" b="1" smtClean="0">
                <a:solidFill>
                  <a:srgbClr val="17324D"/>
                </a:solidFill>
                <a:latin typeface="Segoe UI"/>
              </a:rPr>
              <a:t>VERNUTSYA</a:t>
            </a:r>
            <a:endParaRPr lang="ru-RU" sz="1300" b="1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305800" y="5080000"/>
            <a:ext cx="243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80" smtClean="0">
                <a:solidFill>
                  <a:srgbClr val="445465"/>
                </a:solidFill>
                <a:latin typeface="Segoe UI"/>
              </a:rPr>
              <a:t>Prodolzhit tolko posle povtornoy proverki.</a:t>
            </a:r>
            <a:endParaRPr lang="ru-RU" sz="1080">
              <a:solidFill>
                <a:srgbClr val="445465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2918887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1F2933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609600" y="431800"/>
            <a:ext cx="1168400" cy="330200"/>
          </a:xfrm>
          <a:prstGeom prst="roundRect">
            <a:avLst>
              <a:gd name="adj" fmla="val 20000"/>
            </a:avLst>
          </a:prstGeom>
          <a:solidFill>
            <a:srgbClr val="2F5D7C"/>
          </a:solidFill>
          <a:ln w="158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1240B29-F687-4F45-9708-019B960494DF}">
              <a14:hiddenLine xmlns:a14="http://schemas.microsoft.com/office/drawing/2010/main" w="15875" cap="flat" cmpd="sng" algn="ctr">
                <a:solidFill>
                  <a:srgbClr val="2F5D7C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11684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50" b="1" smtClean="0">
                <a:solidFill>
                  <a:srgbClr val="FFFFFF"/>
                </a:solidFill>
                <a:latin typeface="Segoe UI"/>
              </a:rPr>
              <a:t>A-48 / TV-05</a:t>
            </a:r>
            <a:endParaRPr lang="ru-RU" sz="105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55800" y="381000"/>
            <a:ext cx="825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150" b="1" smtClean="0">
                <a:solidFill>
                  <a:srgbClr val="5E6C78"/>
                </a:solidFill>
                <a:latin typeface="Segoe UI"/>
              </a:rPr>
              <a:t>Assessment demolition sequence board</a:t>
            </a:r>
            <a:endParaRPr lang="ru-RU" sz="1150" b="1">
              <a:solidFill>
                <a:srgbClr val="5E6C78"/>
              </a:solidFill>
              <a:latin typeface="Segoe U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9600" y="863600"/>
            <a:ext cx="10160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500" b="1" smtClean="0">
                <a:solidFill>
                  <a:srgbClr val="17324D"/>
                </a:solidFill>
                <a:latin typeface="Segoe UI"/>
              </a:rPr>
              <a:t>Bezopasnyy demontazh chitaetsya kak poryadok deystviy, a ne kak lyubaya udobnaya razborka</a:t>
            </a:r>
            <a:endParaRPr lang="ru-RU" sz="2500" b="1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9600" y="14478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300" smtClean="0">
                <a:solidFill>
                  <a:srgbClr val="445465"/>
                </a:solidFill>
                <a:latin typeface="Segoe UI"/>
              </a:rPr>
              <a:t>Board dolzhen pokazat sequence logic: kontrol zony, poryadok, peredacha elementa bez sbrosa vniz i stop pri riske.</a:t>
            </a:r>
            <a:endParaRPr lang="ru-RU" sz="130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609600" y="1930400"/>
            <a:ext cx="4445000" cy="304800"/>
          </a:xfrm>
          <a:prstGeom prst="roundRect">
            <a:avLst>
              <a:gd name="adj" fmla="val 18000"/>
            </a:avLst>
          </a:prstGeom>
          <a:solidFill>
            <a:srgbClr val="C65D18"/>
          </a:solidFill>
          <a:ln w="15875" cap="flat" cmpd="sng" algn="ctr">
            <a:solidFill>
              <a:srgbClr val="C65D18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609600" y="1955800"/>
            <a:ext cx="4445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00" b="1" smtClean="0">
                <a:solidFill>
                  <a:srgbClr val="FFFFFF"/>
                </a:solidFill>
                <a:latin typeface="Segoe UI"/>
              </a:rPr>
              <a:t>Test prompt: kakaya logika demontazha yavlyaetsya pravilnoy</a:t>
            </a:r>
            <a:endParaRPr lang="ru-RU" sz="1000" b="1">
              <a:solidFill>
                <a:srgbClr val="FFFFFF"/>
              </a:solidFill>
              <a:latin typeface="Segoe UI"/>
            </a:endParaRPr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609600" y="6350000"/>
            <a:ext cx="10972800" cy="0"/>
          </a:xfrm>
          <a:prstGeom prst="line">
            <a:avLst/>
          </a:prstGeom>
          <a:ln w="12700">
            <a:solidFill>
              <a:srgbClr val="C7D0D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09600" y="6426200"/>
            <a:ext cx="6604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950" smtClean="0">
                <a:solidFill>
                  <a:srgbClr val="6A7782"/>
                </a:solidFill>
                <a:latin typeface="Segoe UI"/>
              </a:rPr>
              <a:t>Montazhnik lesov | Assessment visual build draft</a:t>
            </a:r>
            <a:endParaRPr lang="ru-RU" sz="950">
              <a:solidFill>
                <a:srgbClr val="6A7782"/>
              </a:solidFill>
              <a:latin typeface="Segoe UI"/>
            </a:endParaRP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9982200" y="6400800"/>
            <a:ext cx="1600200" cy="254000"/>
          </a:xfrm>
          <a:prstGeom prst="roundRect">
            <a:avLst>
              <a:gd name="adj" fmla="val 16000"/>
            </a:avLst>
          </a:prstGeom>
          <a:solidFill>
            <a:srgbClr val="F4F1EA"/>
          </a:solidFill>
          <a:ln w="12700" cap="flat" cmpd="sng" algn="ctr">
            <a:solidFill>
              <a:srgbClr val="B7C3CC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9982200" y="6426200"/>
            <a:ext cx="1600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850" smtClean="0">
                <a:solidFill>
                  <a:srgbClr val="77838E"/>
                </a:solidFill>
                <a:latin typeface="Segoe UI"/>
              </a:rPr>
              <a:t>TV anchor / QA slot</a:t>
            </a:r>
            <a:endParaRPr lang="ru-RU" sz="850">
              <a:solidFill>
                <a:srgbClr val="77838E"/>
              </a:solidFill>
              <a:latin typeface="Segoe UI"/>
            </a:endParaRP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685800" y="2895600"/>
            <a:ext cx="2463800" cy="190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 cap="flat" cmpd="sng" algn="ctr">
            <a:solidFill>
              <a:srgbClr val="BAC6CF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Овал 14"/>
          <p:cNvSpPr/>
          <p:nvPr/>
        </p:nvSpPr>
        <p:spPr>
          <a:xfrm>
            <a:off x="838200" y="3048000"/>
            <a:ext cx="355600" cy="355600"/>
          </a:xfrm>
          <a:prstGeom prst="ellipse">
            <a:avLst/>
          </a:prstGeom>
          <a:solidFill>
            <a:srgbClr val="2F5D7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838200" y="3048000"/>
            <a:ext cx="35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ru-RU" sz="1200" b="1" smtClean="0">
                <a:solidFill>
                  <a:srgbClr val="FFFFFF"/>
                </a:solidFill>
                <a:latin typeface="Segoe UI"/>
              </a:rPr>
              <a:t>1</a:t>
            </a:r>
            <a:endParaRPr lang="ru-RU" sz="120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95400" y="3035300"/>
            <a:ext cx="1701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300" b="1" smtClean="0">
                <a:solidFill>
                  <a:srgbClr val="17324D"/>
                </a:solidFill>
                <a:latin typeface="Segoe UI"/>
              </a:rPr>
              <a:t>Zona pod kontrolem</a:t>
            </a:r>
            <a:endParaRPr lang="ru-RU" sz="1300" b="1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8200" y="34036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80" smtClean="0">
                <a:solidFill>
                  <a:srgbClr val="445465"/>
                </a:solidFill>
                <a:latin typeface="Segoe UI"/>
              </a:rPr>
              <a:t>Snachala organizovat zonu i ne dopuskat sluchaynogo prokhoda vnizu.</a:t>
            </a:r>
            <a:endParaRPr lang="ru-RU" sz="1080">
              <a:solidFill>
                <a:srgbClr val="445465"/>
              </a:solidFill>
              <a:latin typeface="Segoe UI"/>
            </a:endParaRPr>
          </a:p>
        </p:txBody>
      </p:sp>
      <p:cxnSp>
        <p:nvCxnSpPr>
          <p:cNvPr id="19" name="Прямая соединительная линия 18"/>
          <p:cNvCxnSpPr/>
          <p:nvPr/>
        </p:nvCxnSpPr>
        <p:spPr>
          <a:xfrm>
            <a:off x="3175000" y="3835400"/>
            <a:ext cx="228600" cy="0"/>
          </a:xfrm>
          <a:prstGeom prst="line">
            <a:avLst/>
          </a:prstGeom>
          <a:ln w="22860">
            <a:solidFill>
              <a:srgbClr val="7E8E9C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Скругленный прямоугольник 19"/>
          <p:cNvSpPr/>
          <p:nvPr/>
        </p:nvSpPr>
        <p:spPr>
          <a:xfrm>
            <a:off x="3479800" y="2895600"/>
            <a:ext cx="2463800" cy="190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 cap="flat" cmpd="sng" algn="ctr">
            <a:solidFill>
              <a:srgbClr val="BAC6CF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Овал 20"/>
          <p:cNvSpPr/>
          <p:nvPr/>
        </p:nvSpPr>
        <p:spPr>
          <a:xfrm>
            <a:off x="3632200" y="3048000"/>
            <a:ext cx="355600" cy="355600"/>
          </a:xfrm>
          <a:prstGeom prst="ellipse">
            <a:avLst/>
          </a:prstGeom>
          <a:solidFill>
            <a:srgbClr val="2E7D5B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3632200" y="3048000"/>
            <a:ext cx="35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ru-RU" sz="1200" b="1" smtClean="0">
                <a:solidFill>
                  <a:srgbClr val="FFFFFF"/>
                </a:solidFill>
                <a:latin typeface="Segoe UI"/>
              </a:rPr>
              <a:t>2</a:t>
            </a:r>
            <a:endParaRPr lang="ru-RU" sz="120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089400" y="3035300"/>
            <a:ext cx="1701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300" b="1" smtClean="0">
                <a:solidFill>
                  <a:srgbClr val="17324D"/>
                </a:solidFill>
                <a:latin typeface="Segoe UI"/>
              </a:rPr>
              <a:t>Poryadok deystviy</a:t>
            </a:r>
            <a:endParaRPr lang="ru-RU" sz="1300" b="1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632200" y="34036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80" smtClean="0">
                <a:solidFill>
                  <a:srgbClr val="445465"/>
                </a:solidFill>
                <a:latin typeface="Segoe UI"/>
              </a:rPr>
              <a:t>Razbirat po upravlyaemoy posledovatelnosti, a ne po sluchaynoy udobnosti.</a:t>
            </a:r>
            <a:endParaRPr lang="ru-RU" sz="1080">
              <a:solidFill>
                <a:srgbClr val="445465"/>
              </a:solidFill>
              <a:latin typeface="Segoe UI"/>
            </a:endParaRPr>
          </a:p>
        </p:txBody>
      </p:sp>
      <p:cxnSp>
        <p:nvCxnSpPr>
          <p:cNvPr id="25" name="Прямая соединительная линия 24"/>
          <p:cNvCxnSpPr/>
          <p:nvPr/>
        </p:nvCxnSpPr>
        <p:spPr>
          <a:xfrm>
            <a:off x="5969000" y="3835400"/>
            <a:ext cx="228600" cy="0"/>
          </a:xfrm>
          <a:prstGeom prst="line">
            <a:avLst/>
          </a:prstGeom>
          <a:ln w="22860">
            <a:solidFill>
              <a:srgbClr val="7E8E9C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Скругленный прямоугольник 25"/>
          <p:cNvSpPr/>
          <p:nvPr/>
        </p:nvSpPr>
        <p:spPr>
          <a:xfrm>
            <a:off x="6273800" y="2895600"/>
            <a:ext cx="2463800" cy="190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 cap="flat" cmpd="sng" algn="ctr">
            <a:solidFill>
              <a:srgbClr val="BAC6CF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Овал 26"/>
          <p:cNvSpPr/>
          <p:nvPr/>
        </p:nvSpPr>
        <p:spPr>
          <a:xfrm>
            <a:off x="6426200" y="3048000"/>
            <a:ext cx="355600" cy="355600"/>
          </a:xfrm>
          <a:prstGeom prst="ellipse">
            <a:avLst/>
          </a:prstGeom>
          <a:solidFill>
            <a:srgbClr val="C65D1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426200" y="3048000"/>
            <a:ext cx="35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ru-RU" sz="1200" b="1" smtClean="0">
                <a:solidFill>
                  <a:srgbClr val="FFFFFF"/>
                </a:solidFill>
                <a:latin typeface="Segoe UI"/>
              </a:rPr>
              <a:t>3</a:t>
            </a:r>
            <a:endParaRPr lang="ru-RU" sz="120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883400" y="3035300"/>
            <a:ext cx="1701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300" b="1" smtClean="0">
                <a:solidFill>
                  <a:srgbClr val="17324D"/>
                </a:solidFill>
                <a:latin typeface="Segoe UI"/>
              </a:rPr>
              <a:t>Bez sbrosa vniz</a:t>
            </a:r>
            <a:endParaRPr lang="ru-RU" sz="1300" b="1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426200" y="34036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80" smtClean="0">
                <a:solidFill>
                  <a:srgbClr val="445465"/>
                </a:solidFill>
                <a:latin typeface="Segoe UI"/>
              </a:rPr>
              <a:t>Element peredayetsya ili prinimaetsya pod kontrolem, a ne sbrasyvaetsya vniz.</a:t>
            </a:r>
            <a:endParaRPr lang="ru-RU" sz="1080">
              <a:solidFill>
                <a:srgbClr val="445465"/>
              </a:solidFill>
              <a:latin typeface="Segoe UI"/>
            </a:endParaRPr>
          </a:p>
        </p:txBody>
      </p:sp>
      <p:cxnSp>
        <p:nvCxnSpPr>
          <p:cNvPr id="31" name="Прямая соединительная линия 30"/>
          <p:cNvCxnSpPr/>
          <p:nvPr/>
        </p:nvCxnSpPr>
        <p:spPr>
          <a:xfrm>
            <a:off x="8763000" y="3835400"/>
            <a:ext cx="228600" cy="0"/>
          </a:xfrm>
          <a:prstGeom prst="line">
            <a:avLst/>
          </a:prstGeom>
          <a:ln w="22860">
            <a:solidFill>
              <a:srgbClr val="7E8E9C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Скругленный прямоугольник 31"/>
          <p:cNvSpPr/>
          <p:nvPr/>
        </p:nvSpPr>
        <p:spPr>
          <a:xfrm>
            <a:off x="9067800" y="2895600"/>
            <a:ext cx="2463800" cy="1905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 cap="flat" cmpd="sng" algn="ctr">
            <a:solidFill>
              <a:srgbClr val="BAC6CF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Овал 32"/>
          <p:cNvSpPr/>
          <p:nvPr/>
        </p:nvSpPr>
        <p:spPr>
          <a:xfrm>
            <a:off x="9220200" y="3048000"/>
            <a:ext cx="355600" cy="355600"/>
          </a:xfrm>
          <a:prstGeom prst="ellipse">
            <a:avLst/>
          </a:prstGeom>
          <a:solidFill>
            <a:srgbClr val="A63D40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TextBox 33"/>
          <p:cNvSpPr txBox="1"/>
          <p:nvPr/>
        </p:nvSpPr>
        <p:spPr>
          <a:xfrm>
            <a:off x="9220200" y="3048000"/>
            <a:ext cx="355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ru-RU" sz="1200" b="1" smtClean="0">
                <a:solidFill>
                  <a:srgbClr val="FFFFFF"/>
                </a:solidFill>
                <a:latin typeface="Segoe UI"/>
              </a:rPr>
              <a:t>4</a:t>
            </a:r>
            <a:endParaRPr lang="ru-RU" sz="120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9677400" y="3035300"/>
            <a:ext cx="17018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300" b="1" smtClean="0">
                <a:solidFill>
                  <a:srgbClr val="17324D"/>
                </a:solidFill>
                <a:latin typeface="Segoe UI"/>
              </a:rPr>
              <a:t>Stop pri spornom riske</a:t>
            </a:r>
            <a:endParaRPr lang="ru-RU" sz="1300" b="1">
              <a:solidFill>
                <a:srgbClr val="17324D"/>
              </a:solidFill>
              <a:latin typeface="Segoe UI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220200" y="3403600"/>
            <a:ext cx="2159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080" smtClean="0">
                <a:solidFill>
                  <a:srgbClr val="445465"/>
                </a:solidFill>
                <a:latin typeface="Segoe UI"/>
              </a:rPr>
              <a:t>Pri neyasnom ili opasnom signale rabotu ostanovit i pereproverit contour.</a:t>
            </a:r>
            <a:endParaRPr lang="ru-RU" sz="1080">
              <a:solidFill>
                <a:srgbClr val="445465"/>
              </a:solidFill>
              <a:latin typeface="Segoe UI"/>
            </a:endParaRPr>
          </a:p>
        </p:txBody>
      </p:sp>
      <p:sp>
        <p:nvSpPr>
          <p:cNvPr id="37" name="Скругленный прямоугольник 36"/>
          <p:cNvSpPr/>
          <p:nvPr/>
        </p:nvSpPr>
        <p:spPr>
          <a:xfrm>
            <a:off x="3632200" y="5130800"/>
            <a:ext cx="4953000" cy="558800"/>
          </a:xfrm>
          <a:prstGeom prst="roundRect">
            <a:avLst>
              <a:gd name="adj" fmla="val 12000"/>
            </a:avLst>
          </a:prstGeom>
          <a:solidFill>
            <a:srgbClr val="FFF3F0"/>
          </a:solidFill>
          <a:ln w="15875" cap="flat" cmpd="sng" algn="ctr">
            <a:solidFill>
              <a:srgbClr val="D48A8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Скругленный прямоугольник 37"/>
          <p:cNvSpPr/>
          <p:nvPr/>
        </p:nvSpPr>
        <p:spPr>
          <a:xfrm>
            <a:off x="3860800" y="5270500"/>
            <a:ext cx="1219200" cy="279400"/>
          </a:xfrm>
          <a:prstGeom prst="roundRect">
            <a:avLst>
              <a:gd name="adj" fmla="val 18000"/>
            </a:avLst>
          </a:prstGeom>
          <a:solidFill>
            <a:srgbClr val="A63D40"/>
          </a:solidFill>
          <a:ln w="15875" cap="flat" cmpd="sng" algn="ctr">
            <a:solidFill>
              <a:srgbClr val="A63D4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/>
          <p:cNvSpPr txBox="1"/>
          <p:nvPr/>
        </p:nvSpPr>
        <p:spPr>
          <a:xfrm>
            <a:off x="3860800" y="5295900"/>
            <a:ext cx="12192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000" b="1" smtClean="0">
                <a:solidFill>
                  <a:srgbClr val="FFFFFF"/>
                </a:solidFill>
                <a:latin typeface="Segoe UI"/>
              </a:rPr>
              <a:t>NO-GO</a:t>
            </a:r>
            <a:endParaRPr lang="ru-RU" sz="1000" b="1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207000" y="5232400"/>
            <a:ext cx="31496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200" b="1" smtClean="0">
                <a:solidFill>
                  <a:srgbClr val="7A1D22"/>
                </a:solidFill>
                <a:latin typeface="Segoe UI"/>
              </a:rPr>
              <a:t>Tak nelzya: sbros vniz ili snyatie bez kontrolya zony</a:t>
            </a:r>
            <a:endParaRPr lang="ru-RU" sz="1200" b="1">
              <a:solidFill>
                <a:srgbClr val="7A1D22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101172678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574</Words>
  <Application>Microsoft Office PowerPoint</Application>
  <PresentationFormat>Произвольный</PresentationFormat>
  <Paragraphs>99</Paragraphs>
  <Slides>5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6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Дмитрий</dc:creator>
  <cp:lastModifiedBy>Дмитрий</cp:lastModifiedBy>
  <cp:revision>3</cp:revision>
  <dcterms:created xsi:type="dcterms:W3CDTF">2026-05-18T13:02:05Z</dcterms:created>
  <dcterms:modified xsi:type="dcterms:W3CDTF">2026-05-18T13:41:11Z</dcterms:modified>
</cp:coreProperties>
</file>